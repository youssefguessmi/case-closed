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17bc3e4-9ee5-acdb-01a5-2bd69af0d0e3}">
          <p14:sldIdLst>
            <p14:sldId id="256"/>
          </p14:sldIdLst>
        </p14:section>
        <p14:section name="Problem" id="{7762e138-9d2c-962d-f3d2-6c478249e4d1}">
          <p14:sldIdLst>
            <p14:sldId id="257"/>
          </p14:sldIdLst>
        </p14:section>
        <p14:section name="Solution" id="{31ee2be1-4b0b-0b90-98af-55dfe1defcef}">
          <p14:sldIdLst>
            <p14:sldId id="258"/>
            <p14:sldId id="259"/>
          </p14:sldIdLst>
        </p14:section>
        <p14:section name="Challenges" id="{1a40e189-583a-21ab-8f66-ec78d4e07fc5}">
          <p14:sldIdLst>
            <p14:sldId id="260"/>
          </p14:sldIdLst>
        </p14:section>
        <p14:section name="Trade-offs" id="{0ada7b90-3bd1-c658-f851-fda1492470d3}">
          <p14:sldIdLst>
            <p14:sldId id="261"/>
          </p14:sldIdLst>
        </p14:section>
        <p14:section name="Close" id="{e767d63c-7154-4142-1407-de12580b70a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 senior executive at Blackwood Technologies is dead, three employees each claim an alibi, and the evidence is scattered across three systems. Our project is the pipeline that lets investigators test those alibis quickly and defensibly.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Window: 10 PM to midnight on August 14, 2026. Three employees gave alibis. The evidence lives in a badge CSV, device logs, and a PostgreSQL building-transactions database, so comparing them by hand is slow and error-prone. Our goal: find where the evidence contradicts an alibi. (~45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Three sources go into an encrypted evidence vault where they are hashed before anything touches them. A Python ETL cleans a working copy and loads one MySQL timeline. Gemma lets investigators ask questions in natural language; only approved SELECT queries are allowed. The key idea: the original evidence is hashed before processing and verified on every run.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Preserve: hash first, re-verify every run. Normalize: one timezone, standard IDs, dedupe, entity resolution across sources, chronological timeline. Query: Gemma translates questions to SQL, a validator only allows SELECT and blocks anything that modifies data.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three biggest engineering problems. 1) Three different formats: solved with per-source transforms into one schema (employee ID, timestamp, source, type, location, details, record hash). 2) Proving evidence was not changed: SHA-256 of original, timestamped copy, hash again, compare, and log everything in a chain-of-custody manifest. 3) Duplicates from repeated runs: unique source_event_key, INSERT IGNORE, and tracking the last processed timestamp and transaction ID. (~90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Polling PostgreSQL every 30-60 seconds is not truly real-time and could result in missed or tampered data. Gemma may generate incorrect SQL or misinterpret an investigator's request. Hashing lets us verify the data was not modified, but not that the original data came from the correct source.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pipeline turns disconnected data into standardized, searchable data. It is trustworthy, efficient and scalable, and investigators spend more time verifying alibis. Invite questions.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54864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5486400" cy="365760"/>
          </a:xfrm>
          <a:prstGeom prst="rect">
            <a:avLst/>
          </a:prstGeom>
          <a:noFill/>
          <a:ln/>
        </p:spPr>
        <p:txBody>
          <a:bodyPr wrap="square" lIns="0" tIns="0" rIns="0" bIns="0" rtlCol="0" anchor="t"/>
          <a:lstStyle/>
          <a:p>
            <a:pPr indent="0" marL="0">
              <a:buNone/>
            </a:pPr>
            <a:r>
              <a:rPr lang="en-US" sz="1600" b="1" spc="400" kern="0" dirty="0">
                <a:solidFill>
                  <a:schemeClr val="accent1"/>
                </a:solidFill>
              </a:rPr>
              <a:t>CASE CLOSED</a:t>
            </a:r>
            <a:endParaRPr lang="en-US" sz="1600" dirty="0"/>
          </a:p>
        </p:txBody>
      </p:sp>
      <p:sp>
        <p:nvSpPr>
          <p:cNvPr id="3" name="Text 0"/>
          <p:cNvSpPr/>
          <p:nvPr>
            <p:ph idx="100" type="title" hasCustomPrompt="1"/>
          </p:nvPr>
        </p:nvSpPr>
        <p:spPr>
          <a:xfrm>
            <a:off x="548640" y="1554480"/>
            <a:ext cx="5486400" cy="914400"/>
          </a:xfrm>
          <a:prstGeom prst="rect">
            <a:avLst/>
          </a:prstGeom>
          <a:noFill/>
          <a:ln/>
        </p:spPr>
        <p:txBody>
          <a:bodyPr wrap="square" lIns="0" tIns="0" rIns="0" bIns="0" rtlCol="0" anchor="t"/>
          <a:lstStyle/>
          <a:p>
            <a:pPr algn="l" indent="0" marL="0">
              <a:buNone/>
            </a:pPr>
            <a:r>
              <a:rPr lang="en-US" sz="4400" b="1" dirty="0">
                <a:solidFill>
                  <a:schemeClr val="bg1"/>
                </a:solidFill>
              </a:rPr>
              <a:t>The Broken Alibi</a:t>
            </a:r>
            <a:endParaRPr lang="en-US" sz="4400" dirty="0"/>
          </a:p>
        </p:txBody>
      </p:sp>
      <p:sp>
        <p:nvSpPr>
          <p:cNvPr id="4" name="Text 2"/>
          <p:cNvSpPr txBox="1"/>
          <p:nvPr/>
        </p:nvSpPr>
        <p:spPr>
          <a:xfrm>
            <a:off x="548640" y="2606040"/>
            <a:ext cx="5120640" cy="822960"/>
          </a:xfrm>
          <a:prstGeom prst="rect">
            <a:avLst/>
          </a:prstGeom>
          <a:noFill/>
          <a:ln/>
        </p:spPr>
        <p:txBody>
          <a:bodyPr wrap="square" lIns="0" tIns="0" rIns="0" bIns="0" rtlCol="0" anchor="t"/>
          <a:lstStyle/>
          <a:p>
            <a:pPr indent="0" marL="0">
              <a:buNone/>
            </a:pPr>
            <a:r>
              <a:rPr lang="en-US" sz="2000" dirty="0">
                <a:solidFill>
                  <a:schemeClr val="accent5"/>
                </a:solidFill>
              </a:rPr>
              <a:t>A digital evidence pipeline for the Blackwood Technologies investigation</a:t>
            </a:r>
            <a:endParaRPr lang="en-US" sz="2000" dirty="0"/>
          </a:p>
        </p:txBody>
      </p:sp>
      <p:sp>
        <p:nvSpPr>
          <p:cNvPr id="5" name="Text 3"/>
          <p:cNvSpPr txBox="1"/>
          <p:nvPr/>
        </p:nvSpPr>
        <p:spPr>
          <a:xfrm>
            <a:off x="548640" y="3657600"/>
            <a:ext cx="51206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TEAM 1</a:t>
            </a:r>
            <a:endParaRPr lang="en-US" sz="1200" dirty="0"/>
          </a:p>
        </p:txBody>
      </p:sp>
      <p:sp>
        <p:nvSpPr>
          <p:cNvPr id="6" name="Text 4"/>
          <p:cNvSpPr txBox="1"/>
          <p:nvPr/>
        </p:nvSpPr>
        <p:spPr>
          <a:xfrm>
            <a:off x="548640" y="3950208"/>
            <a:ext cx="7772400" cy="365760"/>
          </a:xfrm>
          <a:prstGeom prst="rect">
            <a:avLst/>
          </a:prstGeom>
          <a:noFill/>
          <a:ln/>
        </p:spPr>
        <p:txBody>
          <a:bodyPr wrap="square" lIns="0" tIns="0" rIns="0" bIns="0" rtlCol="0" anchor="t"/>
          <a:lstStyle/>
          <a:p>
            <a:pPr indent="0" marL="0">
              <a:buNone/>
            </a:pPr>
            <a:r>
              <a:rPr lang="en-US" sz="1600" dirty="0">
                <a:solidFill>
                  <a:schemeClr val="bg1"/>
                </a:solidFill>
              </a:rPr>
              <a:t>Minh Long Vu  |  Youssef Guesmi  |  Joshua Sekyi</a:t>
            </a:r>
            <a:endParaRPr lang="en-US" sz="1600" dirty="0"/>
          </a:p>
        </p:txBody>
      </p:sp>
      <p:sp>
        <p:nvSpPr>
          <p:cNvPr id="7" name="Magnifier ring"/>
          <p:cNvSpPr/>
          <p:nvPr/>
        </p:nvSpPr>
        <p:spPr>
          <a:xfrm>
            <a:off x="6309360" y="1005840"/>
            <a:ext cx="2377440" cy="2377440"/>
          </a:xfrm>
          <a:prstGeom prst="ellipse">
            <a:avLst/>
          </a:prstGeom>
          <a:solidFill>
            <a:schemeClr val="tx2"/>
          </a:solidFill>
          <a:ln w="38100">
            <a:solidFill>
              <a:schemeClr val="accent1"/>
            </a:solidFill>
            <a:prstDash val="solid"/>
          </a:ln>
        </p:spPr>
      </p:sp>
      <p:pic>
        <p:nvPicPr>
          <p:cNvPr id="8" name="Image 0" descr="Magnifying glass">    </p:cNvPr>
          <p:cNvPicPr>
            <a:picLocks noChangeAspect="1"/>
          </p:cNvPicPr>
          <p:nvPr/>
        </p:nvPicPr>
        <p:blipFill>
          <a:blip r:embed="rId1"/>
          <a:stretch>
            <a:fillRect/>
          </a:stretch>
        </p:blipFill>
        <p:spPr>
          <a:xfrm>
            <a:off x="6858000" y="155448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Three Alibis, Three Systems</a:t>
            </a:r>
            <a:endParaRPr lang="en-US" sz="3200" dirty="0"/>
          </a:p>
        </p:txBody>
      </p:sp>
      <p:sp>
        <p:nvSpPr>
          <p:cNvPr id="3" name="Text 1"/>
          <p:cNvSpPr txBox="1"/>
          <p:nvPr/>
        </p:nvSpPr>
        <p:spPr>
          <a:xfrm>
            <a:off x="457200" y="1371600"/>
            <a:ext cx="3931920" cy="1645920"/>
          </a:xfrm>
          <a:prstGeom prst="rect">
            <a:avLst/>
          </a:prstGeom>
          <a:noFill/>
          <a:ln/>
        </p:spPr>
        <p:txBody>
          <a:bodyPr wrap="square" lIns="0" tIns="0" rIns="0" bIns="0" rtlCol="0" anchor="t"/>
          <a:lstStyle/>
          <a:p>
            <a:pPr indent="0" marL="0">
              <a:buNone/>
            </a:pPr>
            <a:r>
              <a:rPr lang="en-US" sz="1800" dirty="0">
                <a:solidFill>
                  <a:schemeClr val="tx1"/>
                </a:solidFill>
              </a:rPr>
              <a:t>A senior executive was found dead inside Blackwood Technologies headquarters. Investigators must reconstruct what happened between 10:00 PM and 12:00 AM on August 14, 2026.</a:t>
            </a:r>
            <a:endParaRPr lang="en-US" sz="1800" dirty="0"/>
          </a:p>
        </p:txBody>
      </p:sp>
      <p:sp>
        <p:nvSpPr>
          <p:cNvPr id="4" name="Text 2"/>
          <p:cNvSpPr txBox="1"/>
          <p:nvPr/>
        </p:nvSpPr>
        <p:spPr>
          <a:xfrm>
            <a:off x="457200" y="3200400"/>
            <a:ext cx="3931920" cy="914400"/>
          </a:xfrm>
          <a:prstGeom prst="rect">
            <a:avLst/>
          </a:prstGeom>
          <a:noFill/>
          <a:ln/>
        </p:spPr>
        <p:txBody>
          <a:bodyPr wrap="square" lIns="0" tIns="0" rIns="0" bIns="0" rtlCol="0" anchor="t"/>
          <a:lstStyle/>
          <a:p>
            <a:pPr indent="0" marL="0">
              <a:buNone/>
            </a:pPr>
            <a:r>
              <a:rPr lang="en-US" sz="1800" b="1" dirty="0">
                <a:solidFill>
                  <a:schemeClr val="accent6"/>
                </a:solidFill>
              </a:rPr>
              <a:t>Goal: compare the digital evidence against each alibi and find the contradictions.</a:t>
            </a:r>
            <a:endParaRPr lang="en-US" sz="1800" dirty="0"/>
          </a:p>
        </p:txBody>
      </p:sp>
      <p:sp>
        <p:nvSpPr>
          <p:cNvPr id="5" name="Stat card 1"/>
          <p:cNvSpPr/>
          <p:nvPr/>
        </p:nvSpPr>
        <p:spPr>
          <a:xfrm>
            <a:off x="4937760" y="1371600"/>
            <a:ext cx="3749040" cy="9144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Stat icon 1 circle"/>
          <p:cNvSpPr/>
          <p:nvPr/>
        </p:nvSpPr>
        <p:spPr>
          <a:xfrm>
            <a:off x="5166360" y="1554480"/>
            <a:ext cx="548640" cy="548640"/>
          </a:xfrm>
          <a:prstGeom prst="ellipse">
            <a:avLst/>
          </a:prstGeom>
          <a:solidFill>
            <a:schemeClr val="accent6"/>
          </a:solidFill>
          <a:ln w="12700">
            <a:solidFill>
              <a:schemeClr val="accent6"/>
            </a:solidFill>
            <a:prstDash val="solid"/>
          </a:ln>
        </p:spPr>
      </p:sp>
      <p:pic>
        <p:nvPicPr>
          <p:cNvPr id="7" name="Image 0" descr="Stat icon 1">    </p:cNvPr>
          <p:cNvPicPr>
            <a:picLocks noChangeAspect="1"/>
          </p:cNvPicPr>
          <p:nvPr/>
        </p:nvPicPr>
        <p:blipFill>
          <a:blip r:embed="rId1"/>
          <a:stretch>
            <a:fillRect/>
          </a:stretch>
        </p:blipFill>
        <p:spPr>
          <a:xfrm>
            <a:off x="5303520" y="1691640"/>
            <a:ext cx="274320" cy="274320"/>
          </a:xfrm>
          <a:prstGeom prst="rect">
            <a:avLst/>
          </a:prstGeom>
        </p:spPr>
      </p:pic>
      <p:sp>
        <p:nvSpPr>
          <p:cNvPr id="8" name="Text 5"/>
          <p:cNvSpPr txBox="1"/>
          <p:nvPr/>
        </p:nvSpPr>
        <p:spPr>
          <a:xfrm>
            <a:off x="5943600" y="1481328"/>
            <a:ext cx="1188720" cy="694944"/>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2 hrs</a:t>
            </a:r>
            <a:endParaRPr lang="en-US" sz="3600" dirty="0"/>
          </a:p>
        </p:txBody>
      </p:sp>
      <p:sp>
        <p:nvSpPr>
          <p:cNvPr id="9" name="Text 6"/>
          <p:cNvSpPr txBox="1"/>
          <p:nvPr/>
        </p:nvSpPr>
        <p:spPr>
          <a:xfrm>
            <a:off x="7132320" y="1481328"/>
            <a:ext cx="1463040" cy="694944"/>
          </a:xfrm>
          <a:prstGeom prst="rect">
            <a:avLst/>
          </a:prstGeom>
          <a:noFill/>
          <a:ln/>
        </p:spPr>
        <p:txBody>
          <a:bodyPr wrap="square" lIns="0" tIns="0" rIns="0" bIns="0" rtlCol="0" anchor="ctr"/>
          <a:lstStyle/>
          <a:p>
            <a:pPr indent="0" marL="0">
              <a:buNone/>
            </a:pPr>
            <a:r>
              <a:rPr lang="en-US" sz="1400" dirty="0">
                <a:solidFill>
                  <a:schemeClr val="accent4"/>
                </a:solidFill>
              </a:rPr>
              <a:t>window to reconstruct</a:t>
            </a:r>
            <a:endParaRPr lang="en-US" sz="1400" dirty="0"/>
          </a:p>
        </p:txBody>
      </p:sp>
      <p:sp>
        <p:nvSpPr>
          <p:cNvPr id="10" name="Stat card 2"/>
          <p:cNvSpPr/>
          <p:nvPr/>
        </p:nvSpPr>
        <p:spPr>
          <a:xfrm>
            <a:off x="4937760" y="2468880"/>
            <a:ext cx="3749040" cy="9144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Stat icon 2 circle"/>
          <p:cNvSpPr/>
          <p:nvPr/>
        </p:nvSpPr>
        <p:spPr>
          <a:xfrm>
            <a:off x="5166360" y="2651760"/>
            <a:ext cx="548640" cy="548640"/>
          </a:xfrm>
          <a:prstGeom prst="ellipse">
            <a:avLst/>
          </a:prstGeom>
          <a:solidFill>
            <a:schemeClr val="accent6"/>
          </a:solidFill>
          <a:ln w="12700">
            <a:solidFill>
              <a:schemeClr val="accent6"/>
            </a:solidFill>
            <a:prstDash val="solid"/>
          </a:ln>
        </p:spPr>
      </p:sp>
      <p:pic>
        <p:nvPicPr>
          <p:cNvPr id="12" name="Image 1" descr="Stat icon 2">    </p:cNvPr>
          <p:cNvPicPr>
            <a:picLocks noChangeAspect="1"/>
          </p:cNvPicPr>
          <p:nvPr/>
        </p:nvPicPr>
        <p:blipFill>
          <a:blip r:embed="rId2"/>
          <a:stretch>
            <a:fillRect/>
          </a:stretch>
        </p:blipFill>
        <p:spPr>
          <a:xfrm>
            <a:off x="5303520" y="2788920"/>
            <a:ext cx="274320" cy="274320"/>
          </a:xfrm>
          <a:prstGeom prst="rect">
            <a:avLst/>
          </a:prstGeom>
        </p:spPr>
      </p:pic>
      <p:sp>
        <p:nvSpPr>
          <p:cNvPr id="13" name="Text 9"/>
          <p:cNvSpPr txBox="1"/>
          <p:nvPr/>
        </p:nvSpPr>
        <p:spPr>
          <a:xfrm>
            <a:off x="5943600" y="2578608"/>
            <a:ext cx="1188720" cy="694944"/>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3</a:t>
            </a:r>
            <a:endParaRPr lang="en-US" sz="3600" dirty="0"/>
          </a:p>
        </p:txBody>
      </p:sp>
      <p:sp>
        <p:nvSpPr>
          <p:cNvPr id="14" name="Text 10"/>
          <p:cNvSpPr txBox="1"/>
          <p:nvPr/>
        </p:nvSpPr>
        <p:spPr>
          <a:xfrm>
            <a:off x="7132320" y="2578608"/>
            <a:ext cx="1463040" cy="694944"/>
          </a:xfrm>
          <a:prstGeom prst="rect">
            <a:avLst/>
          </a:prstGeom>
          <a:noFill/>
          <a:ln/>
        </p:spPr>
        <p:txBody>
          <a:bodyPr wrap="square" lIns="0" tIns="0" rIns="0" bIns="0" rtlCol="0" anchor="ctr"/>
          <a:lstStyle/>
          <a:p>
            <a:pPr indent="0" marL="0">
              <a:buNone/>
            </a:pPr>
            <a:r>
              <a:rPr lang="en-US" sz="1400" dirty="0">
                <a:solidFill>
                  <a:schemeClr val="accent4"/>
                </a:solidFill>
              </a:rPr>
              <a:t>employee alibis to test</a:t>
            </a:r>
            <a:endParaRPr lang="en-US" sz="1400" dirty="0"/>
          </a:p>
        </p:txBody>
      </p:sp>
      <p:sp>
        <p:nvSpPr>
          <p:cNvPr id="15" name="Stat card 3"/>
          <p:cNvSpPr/>
          <p:nvPr/>
        </p:nvSpPr>
        <p:spPr>
          <a:xfrm>
            <a:off x="4937760" y="3566160"/>
            <a:ext cx="3749040" cy="9144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Stat icon 3 circle"/>
          <p:cNvSpPr/>
          <p:nvPr/>
        </p:nvSpPr>
        <p:spPr>
          <a:xfrm>
            <a:off x="5166360" y="3749040"/>
            <a:ext cx="548640" cy="548640"/>
          </a:xfrm>
          <a:prstGeom prst="ellipse">
            <a:avLst/>
          </a:prstGeom>
          <a:solidFill>
            <a:schemeClr val="accent6"/>
          </a:solidFill>
          <a:ln w="12700">
            <a:solidFill>
              <a:schemeClr val="accent6"/>
            </a:solidFill>
            <a:prstDash val="solid"/>
          </a:ln>
        </p:spPr>
      </p:sp>
      <p:pic>
        <p:nvPicPr>
          <p:cNvPr id="17" name="Image 2" descr="Stat icon 3">    </p:cNvPr>
          <p:cNvPicPr>
            <a:picLocks noChangeAspect="1"/>
          </p:cNvPicPr>
          <p:nvPr/>
        </p:nvPicPr>
        <p:blipFill>
          <a:blip r:embed="rId3"/>
          <a:stretch>
            <a:fillRect/>
          </a:stretch>
        </p:blipFill>
        <p:spPr>
          <a:xfrm>
            <a:off x="5303520" y="3886200"/>
            <a:ext cx="274320" cy="274320"/>
          </a:xfrm>
          <a:prstGeom prst="rect">
            <a:avLst/>
          </a:prstGeom>
        </p:spPr>
      </p:pic>
      <p:sp>
        <p:nvSpPr>
          <p:cNvPr id="18" name="Text 13"/>
          <p:cNvSpPr txBox="1"/>
          <p:nvPr/>
        </p:nvSpPr>
        <p:spPr>
          <a:xfrm>
            <a:off x="5943600" y="3675888"/>
            <a:ext cx="1188720" cy="694944"/>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3</a:t>
            </a:r>
            <a:endParaRPr lang="en-US" sz="3600" dirty="0"/>
          </a:p>
        </p:txBody>
      </p:sp>
      <p:sp>
        <p:nvSpPr>
          <p:cNvPr id="19" name="Text 14"/>
          <p:cNvSpPr txBox="1"/>
          <p:nvPr/>
        </p:nvSpPr>
        <p:spPr>
          <a:xfrm>
            <a:off x="7132320" y="3675888"/>
            <a:ext cx="1463040" cy="694944"/>
          </a:xfrm>
          <a:prstGeom prst="rect">
            <a:avLst/>
          </a:prstGeom>
          <a:noFill/>
          <a:ln/>
        </p:spPr>
        <p:txBody>
          <a:bodyPr wrap="square" lIns="0" tIns="0" rIns="0" bIns="0" rtlCol="0" anchor="ctr"/>
          <a:lstStyle/>
          <a:p>
            <a:pPr indent="0" marL="0">
              <a:buNone/>
            </a:pPr>
            <a:r>
              <a:rPr lang="en-US" sz="1400" dirty="0">
                <a:solidFill>
                  <a:schemeClr val="accent4"/>
                </a:solidFill>
              </a:rPr>
              <a:t>unconnected data sources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One Pipeline, One Timeline</a:t>
            </a:r>
            <a:endParaRPr lang="en-US" sz="3200" dirty="0"/>
          </a:p>
        </p:txBody>
      </p:sp>
      <p:sp>
        <p:nvSpPr>
          <p:cNvPr id="3" name="Source Badge CSV"/>
          <p:cNvSpPr/>
          <p:nvPr/>
        </p:nvSpPr>
        <p:spPr>
          <a:xfrm>
            <a:off x="457200" y="1325880"/>
            <a:ext cx="1188720" cy="274320"/>
          </a:xfrm>
          <a:prstGeom prst="roundRect">
            <a:avLst>
              <a:gd name="adj" fmla="val 16667"/>
            </a:avLst>
          </a:prstGeom>
          <a:solidFill>
            <a:schemeClr val="bg1"/>
          </a:solidFill>
          <a:ln w="12700">
            <a:solidFill>
              <a:schemeClr val="accent5"/>
            </a:solidFill>
            <a:prstDash val="solid"/>
          </a:ln>
        </p:spPr>
      </p:sp>
      <p:sp>
        <p:nvSpPr>
          <p:cNvPr id="4" name="Text 2"/>
          <p:cNvSpPr txBox="1"/>
          <p:nvPr/>
        </p:nvSpPr>
        <p:spPr>
          <a:xfrm>
            <a:off x="457200" y="1325880"/>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Badge CSV</a:t>
            </a:r>
            <a:endParaRPr lang="en-US" sz="1200" dirty="0"/>
          </a:p>
        </p:txBody>
      </p:sp>
      <p:sp>
        <p:nvSpPr>
          <p:cNvPr id="5" name="Source Syslog"/>
          <p:cNvSpPr/>
          <p:nvPr/>
        </p:nvSpPr>
        <p:spPr>
          <a:xfrm>
            <a:off x="457200" y="1691640"/>
            <a:ext cx="1188720" cy="274320"/>
          </a:xfrm>
          <a:prstGeom prst="roundRect">
            <a:avLst>
              <a:gd name="adj" fmla="val 16667"/>
            </a:avLst>
          </a:prstGeom>
          <a:solidFill>
            <a:schemeClr val="bg1"/>
          </a:solidFill>
          <a:ln w="12700">
            <a:solidFill>
              <a:schemeClr val="accent5"/>
            </a:solidFill>
            <a:prstDash val="solid"/>
          </a:ln>
        </p:spPr>
      </p:sp>
      <p:sp>
        <p:nvSpPr>
          <p:cNvPr id="6" name="Text 4"/>
          <p:cNvSpPr txBox="1"/>
          <p:nvPr/>
        </p:nvSpPr>
        <p:spPr>
          <a:xfrm>
            <a:off x="457200" y="1691640"/>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Syslog</a:t>
            </a:r>
            <a:endParaRPr lang="en-US" sz="1200" dirty="0"/>
          </a:p>
        </p:txBody>
      </p:sp>
      <p:sp>
        <p:nvSpPr>
          <p:cNvPr id="7" name="Source PostgreSQL"/>
          <p:cNvSpPr/>
          <p:nvPr/>
        </p:nvSpPr>
        <p:spPr>
          <a:xfrm>
            <a:off x="457200" y="2057400"/>
            <a:ext cx="1188720" cy="274320"/>
          </a:xfrm>
          <a:prstGeom prst="roundRect">
            <a:avLst>
              <a:gd name="adj" fmla="val 16667"/>
            </a:avLst>
          </a:prstGeom>
          <a:solidFill>
            <a:schemeClr val="bg1"/>
          </a:solidFill>
          <a:ln w="12700">
            <a:solidFill>
              <a:schemeClr val="accent5"/>
            </a:solidFill>
            <a:prstDash val="solid"/>
          </a:ln>
        </p:spPr>
      </p:sp>
      <p:sp>
        <p:nvSpPr>
          <p:cNvPr id="8" name="Text 6"/>
          <p:cNvSpPr txBox="1"/>
          <p:nvPr/>
        </p:nvSpPr>
        <p:spPr>
          <a:xfrm>
            <a:off x="457200" y="2057400"/>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PostgreSQL</a:t>
            </a:r>
            <a:endParaRPr lang="en-US" sz="1200" dirty="0"/>
          </a:p>
        </p:txBody>
      </p:sp>
      <p:sp>
        <p:nvSpPr>
          <p:cNvPr id="9" name="Text 7"/>
          <p:cNvSpPr txBox="1"/>
          <p:nvPr/>
        </p:nvSpPr>
        <p:spPr>
          <a:xfrm>
            <a:off x="457200" y="2514600"/>
            <a:ext cx="1188720" cy="1005840"/>
          </a:xfrm>
          <a:prstGeom prst="rect">
            <a:avLst/>
          </a:prstGeom>
          <a:noFill/>
          <a:ln/>
        </p:spPr>
        <p:txBody>
          <a:bodyPr wrap="square" lIns="0" tIns="0" rIns="0" bIns="0" rtlCol="0" anchor="t"/>
          <a:lstStyle/>
          <a:p>
            <a:pPr algn="l" indent="0" marL="0">
              <a:buNone/>
            </a:pPr>
            <a:r>
              <a:rPr lang="en-US" sz="1200" dirty="0">
                <a:solidFill>
                  <a:schemeClr val="tx2"/>
                </a:solidFill>
              </a:rPr>
              <a:t>Badge CSV, device logs, building transactions</a:t>
            </a:r>
            <a:endParaRPr lang="en-US" sz="1200" dirty="0"/>
          </a:p>
        </p:txBody>
      </p:sp>
      <p:sp>
        <p:nvSpPr>
          <p:cNvPr id="10" name="Arrow 1"/>
          <p:cNvSpPr/>
          <p:nvPr/>
        </p:nvSpPr>
        <p:spPr>
          <a:xfrm>
            <a:off x="1673352" y="1828800"/>
            <a:ext cx="164592" cy="0"/>
          </a:xfrm>
          <a:prstGeom prst="line">
            <a:avLst/>
          </a:prstGeom>
          <a:noFill/>
          <a:ln w="19050">
            <a:solidFill>
              <a:schemeClr val="tx2"/>
            </a:solidFill>
            <a:prstDash val="solid"/>
            <a:tailEnd type="triangle"/>
          </a:ln>
        </p:spPr>
      </p:sp>
      <p:sp>
        <p:nvSpPr>
          <p:cNvPr id="11" name="Stage Evidence vault"/>
          <p:cNvSpPr/>
          <p:nvPr/>
        </p:nvSpPr>
        <p:spPr>
          <a:xfrm>
            <a:off x="1865376" y="1325880"/>
            <a:ext cx="1188720" cy="1005840"/>
          </a:xfrm>
          <a:prstGeom prst="roundRect">
            <a:avLst>
              <a:gd name="adj" fmla="val 7273"/>
            </a:avLst>
          </a:prstGeom>
          <a:solidFill>
            <a:schemeClr val="accent6"/>
          </a:solidFill>
          <a:ln w="12700">
            <a:solidFill>
              <a:schemeClr val="accent6"/>
            </a:solidFill>
            <a:prstDash val="solid"/>
          </a:ln>
        </p:spPr>
      </p:sp>
      <p:pic>
        <p:nvPicPr>
          <p:cNvPr id="12" name="Image 0" descr="Evidence vault">    </p:cNvPr>
          <p:cNvPicPr>
            <a:picLocks noChangeAspect="1"/>
          </p:cNvPicPr>
          <p:nvPr/>
        </p:nvPicPr>
        <p:blipFill>
          <a:blip r:embed="rId1"/>
          <a:stretch>
            <a:fillRect/>
          </a:stretch>
        </p:blipFill>
        <p:spPr>
          <a:xfrm>
            <a:off x="2276856" y="1463040"/>
            <a:ext cx="365760" cy="365760"/>
          </a:xfrm>
          <a:prstGeom prst="rect">
            <a:avLst/>
          </a:prstGeom>
        </p:spPr>
      </p:pic>
      <p:sp>
        <p:nvSpPr>
          <p:cNvPr id="13" name="Text 10"/>
          <p:cNvSpPr txBox="1"/>
          <p:nvPr/>
        </p:nvSpPr>
        <p:spPr>
          <a:xfrm>
            <a:off x="1865376" y="1892808"/>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Evidence vault</a:t>
            </a:r>
            <a:endParaRPr lang="en-US" sz="1400" dirty="0"/>
          </a:p>
        </p:txBody>
      </p:sp>
      <p:sp>
        <p:nvSpPr>
          <p:cNvPr id="14" name="Text 11"/>
          <p:cNvSpPr txBox="1"/>
          <p:nvPr/>
        </p:nvSpPr>
        <p:spPr>
          <a:xfrm>
            <a:off x="1865376" y="2514600"/>
            <a:ext cx="1188720" cy="1005840"/>
          </a:xfrm>
          <a:prstGeom prst="rect">
            <a:avLst/>
          </a:prstGeom>
          <a:noFill/>
          <a:ln/>
        </p:spPr>
        <p:txBody>
          <a:bodyPr wrap="square" lIns="0" tIns="0" rIns="0" bIns="0" rtlCol="0" anchor="t"/>
          <a:lstStyle/>
          <a:p>
            <a:pPr algn="l" indent="0" marL="0">
              <a:buNone/>
            </a:pPr>
            <a:r>
              <a:rPr lang="en-US" sz="1200" dirty="0">
                <a:solidFill>
                  <a:schemeClr val="tx2"/>
                </a:solidFill>
              </a:rPr>
              <a:t>Encrypted raw evidence store, hashed before processing</a:t>
            </a:r>
            <a:endParaRPr lang="en-US" sz="1200" dirty="0"/>
          </a:p>
        </p:txBody>
      </p:sp>
      <p:sp>
        <p:nvSpPr>
          <p:cNvPr id="15" name="Arrow 2"/>
          <p:cNvSpPr/>
          <p:nvPr/>
        </p:nvSpPr>
        <p:spPr>
          <a:xfrm>
            <a:off x="3081528" y="1828800"/>
            <a:ext cx="164592" cy="0"/>
          </a:xfrm>
          <a:prstGeom prst="line">
            <a:avLst/>
          </a:prstGeom>
          <a:noFill/>
          <a:ln w="19050">
            <a:solidFill>
              <a:schemeClr val="tx2"/>
            </a:solidFill>
            <a:prstDash val="solid"/>
            <a:tailEnd type="triangle"/>
          </a:ln>
        </p:spPr>
      </p:sp>
      <p:sp>
        <p:nvSpPr>
          <p:cNvPr id="16" name="Stage Python ETL"/>
          <p:cNvSpPr/>
          <p:nvPr/>
        </p:nvSpPr>
        <p:spPr>
          <a:xfrm>
            <a:off x="3273552" y="1325880"/>
            <a:ext cx="1188720" cy="1005840"/>
          </a:xfrm>
          <a:prstGeom prst="roundRect">
            <a:avLst>
              <a:gd name="adj" fmla="val 7273"/>
            </a:avLst>
          </a:prstGeom>
          <a:solidFill>
            <a:schemeClr val="accent6"/>
          </a:solidFill>
          <a:ln w="12700">
            <a:solidFill>
              <a:schemeClr val="accent6"/>
            </a:solidFill>
            <a:prstDash val="solid"/>
          </a:ln>
        </p:spPr>
      </p:sp>
      <p:pic>
        <p:nvPicPr>
          <p:cNvPr id="17" name="Image 1" descr="Python ETL">    </p:cNvPr>
          <p:cNvPicPr>
            <a:picLocks noChangeAspect="1"/>
          </p:cNvPicPr>
          <p:nvPr/>
        </p:nvPicPr>
        <p:blipFill>
          <a:blip r:embed="rId2"/>
          <a:stretch>
            <a:fillRect/>
          </a:stretch>
        </p:blipFill>
        <p:spPr>
          <a:xfrm>
            <a:off x="3685032" y="1463040"/>
            <a:ext cx="365760" cy="365760"/>
          </a:xfrm>
          <a:prstGeom prst="rect">
            <a:avLst/>
          </a:prstGeom>
        </p:spPr>
      </p:pic>
      <p:sp>
        <p:nvSpPr>
          <p:cNvPr id="18" name="Text 14"/>
          <p:cNvSpPr txBox="1"/>
          <p:nvPr/>
        </p:nvSpPr>
        <p:spPr>
          <a:xfrm>
            <a:off x="3273552" y="1892808"/>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Python ETL</a:t>
            </a:r>
            <a:endParaRPr lang="en-US" sz="1400" dirty="0"/>
          </a:p>
        </p:txBody>
      </p:sp>
      <p:sp>
        <p:nvSpPr>
          <p:cNvPr id="19" name="Text 15"/>
          <p:cNvSpPr txBox="1"/>
          <p:nvPr/>
        </p:nvSpPr>
        <p:spPr>
          <a:xfrm>
            <a:off x="3273552" y="2514600"/>
            <a:ext cx="1188720" cy="1005840"/>
          </a:xfrm>
          <a:prstGeom prst="rect">
            <a:avLst/>
          </a:prstGeom>
          <a:noFill/>
          <a:ln/>
        </p:spPr>
        <p:txBody>
          <a:bodyPr wrap="square" lIns="0" tIns="0" rIns="0" bIns="0" rtlCol="0" anchor="t"/>
          <a:lstStyle/>
          <a:p>
            <a:pPr algn="l" indent="0" marL="0">
              <a:buNone/>
            </a:pPr>
            <a:r>
              <a:rPr lang="en-US" sz="1200" dirty="0">
                <a:solidFill>
                  <a:schemeClr val="tx2"/>
                </a:solidFill>
              </a:rPr>
              <a:t>Common timezone, IDs and a chronological timeline</a:t>
            </a:r>
            <a:endParaRPr lang="en-US" sz="1200" dirty="0"/>
          </a:p>
        </p:txBody>
      </p:sp>
      <p:sp>
        <p:nvSpPr>
          <p:cNvPr id="20" name="Arrow 3"/>
          <p:cNvSpPr/>
          <p:nvPr/>
        </p:nvSpPr>
        <p:spPr>
          <a:xfrm>
            <a:off x="4489704" y="1828800"/>
            <a:ext cx="164592" cy="0"/>
          </a:xfrm>
          <a:prstGeom prst="line">
            <a:avLst/>
          </a:prstGeom>
          <a:noFill/>
          <a:ln w="19050">
            <a:solidFill>
              <a:schemeClr val="tx2"/>
            </a:solidFill>
            <a:prstDash val="solid"/>
            <a:tailEnd type="triangle"/>
          </a:ln>
        </p:spPr>
      </p:sp>
      <p:sp>
        <p:nvSpPr>
          <p:cNvPr id="21" name="Stage MySQL"/>
          <p:cNvSpPr/>
          <p:nvPr/>
        </p:nvSpPr>
        <p:spPr>
          <a:xfrm>
            <a:off x="4681728" y="1325880"/>
            <a:ext cx="1188720" cy="1005840"/>
          </a:xfrm>
          <a:prstGeom prst="roundRect">
            <a:avLst>
              <a:gd name="adj" fmla="val 7273"/>
            </a:avLst>
          </a:prstGeom>
          <a:solidFill>
            <a:schemeClr val="accent6"/>
          </a:solidFill>
          <a:ln w="12700">
            <a:solidFill>
              <a:schemeClr val="accent6"/>
            </a:solidFill>
            <a:prstDash val="solid"/>
          </a:ln>
        </p:spPr>
      </p:sp>
      <p:pic>
        <p:nvPicPr>
          <p:cNvPr id="22" name="Image 2" descr="MySQL">    </p:cNvPr>
          <p:cNvPicPr>
            <a:picLocks noChangeAspect="1"/>
          </p:cNvPicPr>
          <p:nvPr/>
        </p:nvPicPr>
        <p:blipFill>
          <a:blip r:embed="rId3"/>
          <a:stretch>
            <a:fillRect/>
          </a:stretch>
        </p:blipFill>
        <p:spPr>
          <a:xfrm>
            <a:off x="5093208" y="1463040"/>
            <a:ext cx="365760" cy="365760"/>
          </a:xfrm>
          <a:prstGeom prst="rect">
            <a:avLst/>
          </a:prstGeom>
        </p:spPr>
      </p:pic>
      <p:sp>
        <p:nvSpPr>
          <p:cNvPr id="23" name="Text 18"/>
          <p:cNvSpPr txBox="1"/>
          <p:nvPr/>
        </p:nvSpPr>
        <p:spPr>
          <a:xfrm>
            <a:off x="4681728" y="1892808"/>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MySQL</a:t>
            </a:r>
            <a:endParaRPr lang="en-US" sz="1400" dirty="0"/>
          </a:p>
        </p:txBody>
      </p:sp>
      <p:sp>
        <p:nvSpPr>
          <p:cNvPr id="24" name="Text 19"/>
          <p:cNvSpPr txBox="1"/>
          <p:nvPr/>
        </p:nvSpPr>
        <p:spPr>
          <a:xfrm>
            <a:off x="4681728" y="2514600"/>
            <a:ext cx="1188720" cy="1005840"/>
          </a:xfrm>
          <a:prstGeom prst="rect">
            <a:avLst/>
          </a:prstGeom>
          <a:noFill/>
          <a:ln/>
        </p:spPr>
        <p:txBody>
          <a:bodyPr wrap="square" lIns="0" tIns="0" rIns="0" bIns="0" rtlCol="0" anchor="t"/>
          <a:lstStyle/>
          <a:p>
            <a:pPr algn="l" indent="0" marL="0">
              <a:buNone/>
            </a:pPr>
            <a:r>
              <a:rPr lang="en-US" sz="1200" dirty="0">
                <a:solidFill>
                  <a:schemeClr val="tx2"/>
                </a:solidFill>
              </a:rPr>
              <a:t>One analysis-ready activity timeline table</a:t>
            </a:r>
            <a:endParaRPr lang="en-US" sz="1200" dirty="0"/>
          </a:p>
        </p:txBody>
      </p:sp>
      <p:sp>
        <p:nvSpPr>
          <p:cNvPr id="25" name="Arrow 4"/>
          <p:cNvSpPr/>
          <p:nvPr/>
        </p:nvSpPr>
        <p:spPr>
          <a:xfrm>
            <a:off x="5897880" y="1828800"/>
            <a:ext cx="164592" cy="0"/>
          </a:xfrm>
          <a:prstGeom prst="line">
            <a:avLst/>
          </a:prstGeom>
          <a:noFill/>
          <a:ln w="19050">
            <a:solidFill>
              <a:schemeClr val="tx2"/>
            </a:solidFill>
            <a:prstDash val="solid"/>
            <a:headEnd type="triangle"/>
            <a:tailEnd type="triangle"/>
          </a:ln>
        </p:spPr>
      </p:sp>
      <p:sp>
        <p:nvSpPr>
          <p:cNvPr id="26" name="Stage Gemma"/>
          <p:cNvSpPr/>
          <p:nvPr/>
        </p:nvSpPr>
        <p:spPr>
          <a:xfrm>
            <a:off x="6089904" y="1325880"/>
            <a:ext cx="1188720" cy="1005840"/>
          </a:xfrm>
          <a:prstGeom prst="roundRect">
            <a:avLst>
              <a:gd name="adj" fmla="val 7273"/>
            </a:avLst>
          </a:prstGeom>
          <a:solidFill>
            <a:schemeClr val="accent6"/>
          </a:solidFill>
          <a:ln w="12700">
            <a:solidFill>
              <a:schemeClr val="accent6"/>
            </a:solidFill>
            <a:prstDash val="solid"/>
          </a:ln>
        </p:spPr>
      </p:sp>
      <p:pic>
        <p:nvPicPr>
          <p:cNvPr id="27" name="Image 3" descr="Gemma">    </p:cNvPr>
          <p:cNvPicPr>
            <a:picLocks noChangeAspect="1"/>
          </p:cNvPicPr>
          <p:nvPr/>
        </p:nvPicPr>
        <p:blipFill>
          <a:blip r:embed="rId4"/>
          <a:stretch>
            <a:fillRect/>
          </a:stretch>
        </p:blipFill>
        <p:spPr>
          <a:xfrm>
            <a:off x="6501384" y="1463040"/>
            <a:ext cx="365760" cy="365760"/>
          </a:xfrm>
          <a:prstGeom prst="rect">
            <a:avLst/>
          </a:prstGeom>
        </p:spPr>
      </p:pic>
      <p:sp>
        <p:nvSpPr>
          <p:cNvPr id="28" name="Text 22"/>
          <p:cNvSpPr txBox="1"/>
          <p:nvPr/>
        </p:nvSpPr>
        <p:spPr>
          <a:xfrm>
            <a:off x="6089904" y="1892808"/>
            <a:ext cx="1188720" cy="320040"/>
          </a:xfrm>
          <a:prstGeom prst="rect">
            <a:avLst/>
          </a:prstGeom>
          <a:noFill/>
          <a:ln/>
        </p:spPr>
        <p:txBody>
          <a:bodyPr wrap="square" lIns="0" tIns="0" rIns="0" bIns="0" rtlCol="0" anchor="t"/>
          <a:lstStyle/>
          <a:p>
            <a:pPr algn="ctr" indent="0" marL="0">
              <a:buNone/>
            </a:pPr>
            <a:r>
              <a:rPr lang="en-US" sz="1400" b="1" dirty="0">
                <a:solidFill>
                  <a:schemeClr val="bg1"/>
                </a:solidFill>
              </a:rPr>
              <a:t>Gemma</a:t>
            </a:r>
            <a:endParaRPr lang="en-US" sz="1400" dirty="0"/>
          </a:p>
        </p:txBody>
      </p:sp>
      <p:sp>
        <p:nvSpPr>
          <p:cNvPr id="29" name="Text 23"/>
          <p:cNvSpPr txBox="1"/>
          <p:nvPr/>
        </p:nvSpPr>
        <p:spPr>
          <a:xfrm>
            <a:off x="6089904" y="2514600"/>
            <a:ext cx="1188720" cy="1005840"/>
          </a:xfrm>
          <a:prstGeom prst="rect">
            <a:avLst/>
          </a:prstGeom>
          <a:noFill/>
          <a:ln/>
        </p:spPr>
        <p:txBody>
          <a:bodyPr wrap="square" lIns="0" tIns="0" rIns="0" bIns="0" rtlCol="0" anchor="t"/>
          <a:lstStyle/>
          <a:p>
            <a:pPr algn="l" indent="0" marL="0">
              <a:buNone/>
            </a:pPr>
            <a:r>
              <a:rPr lang="en-US" sz="1200" dirty="0">
                <a:solidFill>
                  <a:schemeClr val="tx2"/>
                </a:solidFill>
              </a:rPr>
              <a:t>Plain-English question in, read-only SELECT out</a:t>
            </a:r>
            <a:endParaRPr lang="en-US" sz="1200" dirty="0"/>
          </a:p>
        </p:txBody>
      </p:sp>
      <p:sp>
        <p:nvSpPr>
          <p:cNvPr id="30" name="Arrow 5"/>
          <p:cNvSpPr/>
          <p:nvPr/>
        </p:nvSpPr>
        <p:spPr>
          <a:xfrm>
            <a:off x="7306056" y="1828800"/>
            <a:ext cx="164592" cy="0"/>
          </a:xfrm>
          <a:prstGeom prst="line">
            <a:avLst/>
          </a:prstGeom>
          <a:noFill/>
          <a:ln w="19050">
            <a:solidFill>
              <a:schemeClr val="tx2"/>
            </a:solidFill>
            <a:prstDash val="solid"/>
            <a:headEnd type="triangle"/>
            <a:tailEnd type="triangle"/>
          </a:ln>
        </p:spPr>
      </p:sp>
      <p:sp>
        <p:nvSpPr>
          <p:cNvPr id="31" name="Stage Investigator"/>
          <p:cNvSpPr/>
          <p:nvPr/>
        </p:nvSpPr>
        <p:spPr>
          <a:xfrm>
            <a:off x="7498080" y="1325880"/>
            <a:ext cx="1188720" cy="1005840"/>
          </a:xfrm>
          <a:prstGeom prst="roundRect">
            <a:avLst>
              <a:gd name="adj" fmla="val 7273"/>
            </a:avLst>
          </a:prstGeom>
          <a:solidFill>
            <a:schemeClr val="accent1"/>
          </a:solidFill>
          <a:ln w="12700">
            <a:solidFill>
              <a:schemeClr val="accent1"/>
            </a:solidFill>
            <a:prstDash val="solid"/>
          </a:ln>
        </p:spPr>
      </p:sp>
      <p:pic>
        <p:nvPicPr>
          <p:cNvPr id="32" name="Image 4" descr="Investigator">    </p:cNvPr>
          <p:cNvPicPr>
            <a:picLocks noChangeAspect="1"/>
          </p:cNvPicPr>
          <p:nvPr/>
        </p:nvPicPr>
        <p:blipFill>
          <a:blip r:embed="rId5"/>
          <a:stretch>
            <a:fillRect/>
          </a:stretch>
        </p:blipFill>
        <p:spPr>
          <a:xfrm>
            <a:off x="7909560" y="1463040"/>
            <a:ext cx="365760" cy="365760"/>
          </a:xfrm>
          <a:prstGeom prst="rect">
            <a:avLst/>
          </a:prstGeom>
        </p:spPr>
      </p:pic>
      <p:sp>
        <p:nvSpPr>
          <p:cNvPr id="33" name="Text 26"/>
          <p:cNvSpPr txBox="1"/>
          <p:nvPr/>
        </p:nvSpPr>
        <p:spPr>
          <a:xfrm>
            <a:off x="7498080" y="1892808"/>
            <a:ext cx="1188720" cy="320040"/>
          </a:xfrm>
          <a:prstGeom prst="rect">
            <a:avLst/>
          </a:prstGeom>
          <a:noFill/>
          <a:ln/>
        </p:spPr>
        <p:txBody>
          <a:bodyPr wrap="square" lIns="0" tIns="0" rIns="0" bIns="0" rtlCol="0" anchor="t"/>
          <a:lstStyle/>
          <a:p>
            <a:pPr algn="ctr" indent="0" marL="0">
              <a:buNone/>
            </a:pPr>
            <a:r>
              <a:rPr lang="en-US" sz="1400" b="1" dirty="0">
                <a:solidFill>
                  <a:schemeClr val="tx1"/>
                </a:solidFill>
              </a:rPr>
              <a:t>Investigator</a:t>
            </a:r>
            <a:endParaRPr lang="en-US" sz="1400" dirty="0"/>
          </a:p>
        </p:txBody>
      </p:sp>
      <p:sp>
        <p:nvSpPr>
          <p:cNvPr id="34" name="Text 27"/>
          <p:cNvSpPr txBox="1"/>
          <p:nvPr/>
        </p:nvSpPr>
        <p:spPr>
          <a:xfrm>
            <a:off x="7498080" y="2514600"/>
            <a:ext cx="1188720" cy="1005840"/>
          </a:xfrm>
          <a:prstGeom prst="rect">
            <a:avLst/>
          </a:prstGeom>
          <a:noFill/>
          <a:ln/>
        </p:spPr>
        <p:txBody>
          <a:bodyPr wrap="square" lIns="0" tIns="0" rIns="0" bIns="0" rtlCol="0" anchor="t"/>
          <a:lstStyle/>
          <a:p>
            <a:pPr algn="l" indent="0" marL="0">
              <a:buNone/>
            </a:pPr>
            <a:r>
              <a:rPr lang="en-US" sz="1200" dirty="0">
                <a:solidFill>
                  <a:schemeClr val="tx2"/>
                </a:solidFill>
              </a:rPr>
              <a:t>Reviews the evidence and results</a:t>
            </a:r>
            <a:endParaRPr lang="en-US" sz="1200" dirty="0"/>
          </a:p>
        </p:txBody>
      </p:sp>
      <p:sp>
        <p:nvSpPr>
          <p:cNvPr id="35" name="Takeaway card"/>
          <p:cNvSpPr/>
          <p:nvPr/>
        </p:nvSpPr>
        <p:spPr>
          <a:xfrm>
            <a:off x="457200" y="3840480"/>
            <a:ext cx="8229600" cy="685800"/>
          </a:xfrm>
          <a:prstGeom prst="roundRect">
            <a:avLst>
              <a:gd name="adj" fmla="val 1066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6" name="Shield circle"/>
          <p:cNvSpPr/>
          <p:nvPr/>
        </p:nvSpPr>
        <p:spPr>
          <a:xfrm>
            <a:off x="640080" y="3931920"/>
            <a:ext cx="502920" cy="502920"/>
          </a:xfrm>
          <a:prstGeom prst="ellipse">
            <a:avLst/>
          </a:prstGeom>
          <a:solidFill>
            <a:schemeClr val="accent2"/>
          </a:solidFill>
          <a:ln w="12700">
            <a:solidFill>
              <a:schemeClr val="accent2"/>
            </a:solidFill>
            <a:prstDash val="solid"/>
          </a:ln>
        </p:spPr>
      </p:sp>
      <p:pic>
        <p:nvPicPr>
          <p:cNvPr id="37" name="Image 5" descr="Shield">    </p:cNvPr>
          <p:cNvPicPr>
            <a:picLocks noChangeAspect="1"/>
          </p:cNvPicPr>
          <p:nvPr/>
        </p:nvPicPr>
        <p:blipFill>
          <a:blip r:embed="rId6"/>
          <a:stretch>
            <a:fillRect/>
          </a:stretch>
        </p:blipFill>
        <p:spPr>
          <a:xfrm>
            <a:off x="765810" y="4057650"/>
            <a:ext cx="251460" cy="251460"/>
          </a:xfrm>
          <a:prstGeom prst="rect">
            <a:avLst/>
          </a:prstGeom>
        </p:spPr>
      </p:pic>
      <p:sp>
        <p:nvSpPr>
          <p:cNvPr id="38" name="Text 30"/>
          <p:cNvSpPr txBox="1"/>
          <p:nvPr/>
        </p:nvSpPr>
        <p:spPr>
          <a:xfrm>
            <a:off x="1371600" y="3840480"/>
            <a:ext cx="7132320" cy="685800"/>
          </a:xfrm>
          <a:prstGeom prst="rect">
            <a:avLst/>
          </a:prstGeom>
          <a:noFill/>
          <a:ln/>
        </p:spPr>
        <p:txBody>
          <a:bodyPr wrap="square" lIns="0" tIns="0" rIns="0" bIns="0" rtlCol="0" anchor="ctr"/>
          <a:lstStyle/>
          <a:p>
            <a:pPr indent="0" marL="0">
              <a:buNone/>
            </a:pPr>
            <a:r>
              <a:rPr lang="en-US" sz="1600" b="1" dirty="0">
                <a:solidFill>
                  <a:schemeClr val="tx1"/>
                </a:solidFill>
              </a:rPr>
              <a:t>Evidence is hash-verified before processing, and Gemma queries are read-only.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Preserve, Normalize, Query</a:t>
            </a:r>
            <a:endParaRPr lang="en-US" sz="3200" dirty="0"/>
          </a:p>
        </p:txBody>
      </p:sp>
      <p:sp>
        <p:nvSpPr>
          <p:cNvPr id="3" name="Stage card 1"/>
          <p:cNvSpPr/>
          <p:nvPr/>
        </p:nvSpPr>
        <p:spPr>
          <a:xfrm>
            <a:off x="457200" y="1280160"/>
            <a:ext cx="2560320" cy="329184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Stage icon 1 circle"/>
          <p:cNvSpPr/>
          <p:nvPr/>
        </p:nvSpPr>
        <p:spPr>
          <a:xfrm>
            <a:off x="685800" y="1508760"/>
            <a:ext cx="640080" cy="640080"/>
          </a:xfrm>
          <a:prstGeom prst="ellipse">
            <a:avLst/>
          </a:prstGeom>
          <a:solidFill>
            <a:schemeClr val="accent6"/>
          </a:solidFill>
          <a:ln w="12700">
            <a:solidFill>
              <a:schemeClr val="accent6"/>
            </a:solidFill>
            <a:prstDash val="solid"/>
          </a:ln>
        </p:spPr>
      </p:sp>
      <p:pic>
        <p:nvPicPr>
          <p:cNvPr id="5" name="Image 0" descr="Stage icon 1">    </p:cNvPr>
          <p:cNvPicPr>
            <a:picLocks noChangeAspect="1"/>
          </p:cNvPicPr>
          <p:nvPr/>
        </p:nvPicPr>
        <p:blipFill>
          <a:blip r:embed="rId1"/>
          <a:stretch>
            <a:fillRect/>
          </a:stretch>
        </p:blipFill>
        <p:spPr>
          <a:xfrm>
            <a:off x="845820" y="1668780"/>
            <a:ext cx="320040" cy="320040"/>
          </a:xfrm>
          <a:prstGeom prst="rect">
            <a:avLst/>
          </a:prstGeom>
        </p:spPr>
      </p:pic>
      <p:sp>
        <p:nvSpPr>
          <p:cNvPr id="6" name="Text 3"/>
          <p:cNvSpPr txBox="1"/>
          <p:nvPr/>
        </p:nvSpPr>
        <p:spPr>
          <a:xfrm>
            <a:off x="1463040" y="1508760"/>
            <a:ext cx="146304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1  Preserve</a:t>
            </a:r>
            <a:endParaRPr lang="en-US" sz="2000" dirty="0"/>
          </a:p>
        </p:txBody>
      </p:sp>
      <p:sp>
        <p:nvSpPr>
          <p:cNvPr id="7" name="Text 4"/>
          <p:cNvSpPr txBox="1"/>
          <p:nvPr/>
        </p:nvSpPr>
        <p:spPr>
          <a:xfrm>
            <a:off x="685800" y="2377440"/>
            <a:ext cx="2148840" cy="2057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Hash CSV and log files whole with SHA-256</a:t>
            </a:r>
            <a:endParaRPr lang="en-US" sz="1400" dirty="0"/>
          </a:p>
          <a:p>
            <a:pPr marL="342900" indent="-342900">
              <a:spcAft>
                <a:spcPts val="800"/>
              </a:spcAft>
              <a:buSzPct val="100000"/>
              <a:buChar char="•"/>
            </a:pPr>
            <a:r>
              <a:rPr lang="en-US" sz="1400" dirty="0">
                <a:solidFill>
                  <a:schemeClr val="tx1"/>
                </a:solidFill>
              </a:rPr>
              <a:t>Hash PostgreSQL records row by row</a:t>
            </a:r>
            <a:endParaRPr lang="en-US" sz="1400" dirty="0"/>
          </a:p>
          <a:p>
            <a:pPr marL="342900" indent="-342900">
              <a:spcAft>
                <a:spcPts val="800"/>
              </a:spcAft>
              <a:buSzPct val="100000"/>
              <a:buChar char="•"/>
            </a:pPr>
            <a:r>
              <a:rPr lang="en-US" sz="1400" dirty="0">
                <a:solidFill>
                  <a:schemeClr val="tx1"/>
                </a:solidFill>
              </a:rPr>
              <a:t>Recompute and compare hashes on every run</a:t>
            </a:r>
            <a:endParaRPr lang="en-US" sz="1400" dirty="0"/>
          </a:p>
        </p:txBody>
      </p:sp>
      <p:sp>
        <p:nvSpPr>
          <p:cNvPr id="8" name="Stage card 2"/>
          <p:cNvSpPr/>
          <p:nvPr/>
        </p:nvSpPr>
        <p:spPr>
          <a:xfrm>
            <a:off x="3291840" y="1280160"/>
            <a:ext cx="2560320" cy="329184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Stage icon 2 circle"/>
          <p:cNvSpPr/>
          <p:nvPr/>
        </p:nvSpPr>
        <p:spPr>
          <a:xfrm>
            <a:off x="3520440" y="1508760"/>
            <a:ext cx="640080" cy="640080"/>
          </a:xfrm>
          <a:prstGeom prst="ellipse">
            <a:avLst/>
          </a:prstGeom>
          <a:solidFill>
            <a:schemeClr val="accent6"/>
          </a:solidFill>
          <a:ln w="12700">
            <a:solidFill>
              <a:schemeClr val="accent6"/>
            </a:solidFill>
            <a:prstDash val="solid"/>
          </a:ln>
        </p:spPr>
      </p:sp>
      <p:pic>
        <p:nvPicPr>
          <p:cNvPr id="10" name="Image 1" descr="Stage icon 2">    </p:cNvPr>
          <p:cNvPicPr>
            <a:picLocks noChangeAspect="1"/>
          </p:cNvPicPr>
          <p:nvPr/>
        </p:nvPicPr>
        <p:blipFill>
          <a:blip r:embed="rId2"/>
          <a:stretch>
            <a:fillRect/>
          </a:stretch>
        </p:blipFill>
        <p:spPr>
          <a:xfrm>
            <a:off x="3680460" y="1668780"/>
            <a:ext cx="320040" cy="320040"/>
          </a:xfrm>
          <a:prstGeom prst="rect">
            <a:avLst/>
          </a:prstGeom>
        </p:spPr>
      </p:pic>
      <p:sp>
        <p:nvSpPr>
          <p:cNvPr id="11" name="Text 7"/>
          <p:cNvSpPr txBox="1"/>
          <p:nvPr/>
        </p:nvSpPr>
        <p:spPr>
          <a:xfrm>
            <a:off x="4297680" y="1508760"/>
            <a:ext cx="146304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2  Normalize</a:t>
            </a:r>
            <a:endParaRPr lang="en-US" sz="2000" dirty="0"/>
          </a:p>
        </p:txBody>
      </p:sp>
      <p:sp>
        <p:nvSpPr>
          <p:cNvPr id="12" name="Text 8"/>
          <p:cNvSpPr txBox="1"/>
          <p:nvPr/>
        </p:nvSpPr>
        <p:spPr>
          <a:xfrm>
            <a:off x="3520440" y="2377440"/>
            <a:ext cx="2148840" cy="2057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Convert to one timezone and format</a:t>
            </a:r>
            <a:endParaRPr lang="en-US" sz="1400" dirty="0"/>
          </a:p>
          <a:p>
            <a:pPr marL="342900" indent="-342900">
              <a:spcAft>
                <a:spcPts val="800"/>
              </a:spcAft>
              <a:buSzPct val="100000"/>
              <a:buChar char="•"/>
            </a:pPr>
            <a:r>
              <a:rPr lang="en-US" sz="1400" dirty="0">
                <a:solidFill>
                  <a:schemeClr val="tx1"/>
                </a:solidFill>
              </a:rPr>
              <a:t>Standardize employee, device, location and badge IDs</a:t>
            </a:r>
            <a:endParaRPr lang="en-US" sz="1400" dirty="0"/>
          </a:p>
          <a:p>
            <a:pPr marL="342900" indent="-342900">
              <a:spcAft>
                <a:spcPts val="800"/>
              </a:spcAft>
              <a:buSzPct val="100000"/>
              <a:buChar char="•"/>
            </a:pPr>
            <a:r>
              <a:rPr lang="en-US" sz="1400" dirty="0">
                <a:solidFill>
                  <a:schemeClr val="tx1"/>
                </a:solidFill>
              </a:rPr>
              <a:t>Remove duplicates, link events, build the timeline</a:t>
            </a:r>
            <a:endParaRPr lang="en-US" sz="1400" dirty="0"/>
          </a:p>
        </p:txBody>
      </p:sp>
      <p:sp>
        <p:nvSpPr>
          <p:cNvPr id="13" name="Stage card 3"/>
          <p:cNvSpPr/>
          <p:nvPr/>
        </p:nvSpPr>
        <p:spPr>
          <a:xfrm>
            <a:off x="6126480" y="1280160"/>
            <a:ext cx="2560320" cy="329184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Stage icon 3 circle"/>
          <p:cNvSpPr/>
          <p:nvPr/>
        </p:nvSpPr>
        <p:spPr>
          <a:xfrm>
            <a:off x="6355080" y="1508760"/>
            <a:ext cx="640080" cy="640080"/>
          </a:xfrm>
          <a:prstGeom prst="ellipse">
            <a:avLst/>
          </a:prstGeom>
          <a:solidFill>
            <a:schemeClr val="accent6"/>
          </a:solidFill>
          <a:ln w="12700">
            <a:solidFill>
              <a:schemeClr val="accent6"/>
            </a:solidFill>
            <a:prstDash val="solid"/>
          </a:ln>
        </p:spPr>
      </p:sp>
      <p:pic>
        <p:nvPicPr>
          <p:cNvPr id="15" name="Image 2" descr="Stage icon 3">    </p:cNvPr>
          <p:cNvPicPr>
            <a:picLocks noChangeAspect="1"/>
          </p:cNvPicPr>
          <p:nvPr/>
        </p:nvPicPr>
        <p:blipFill>
          <a:blip r:embed="rId3"/>
          <a:stretch>
            <a:fillRect/>
          </a:stretch>
        </p:blipFill>
        <p:spPr>
          <a:xfrm>
            <a:off x="6515100" y="1668780"/>
            <a:ext cx="320040" cy="320040"/>
          </a:xfrm>
          <a:prstGeom prst="rect">
            <a:avLst/>
          </a:prstGeom>
        </p:spPr>
      </p:pic>
      <p:sp>
        <p:nvSpPr>
          <p:cNvPr id="16" name="Text 11"/>
          <p:cNvSpPr txBox="1"/>
          <p:nvPr/>
        </p:nvSpPr>
        <p:spPr>
          <a:xfrm>
            <a:off x="7132320" y="1508760"/>
            <a:ext cx="1463040"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3  Query</a:t>
            </a:r>
            <a:endParaRPr lang="en-US" sz="2000" dirty="0"/>
          </a:p>
        </p:txBody>
      </p:sp>
      <p:sp>
        <p:nvSpPr>
          <p:cNvPr id="17" name="Text 12"/>
          <p:cNvSpPr txBox="1"/>
          <p:nvPr/>
        </p:nvSpPr>
        <p:spPr>
          <a:xfrm>
            <a:off x="6355080" y="2377440"/>
            <a:ext cx="2148840" cy="2057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Investigators ask in natural language</a:t>
            </a:r>
            <a:endParaRPr lang="en-US" sz="1400" dirty="0"/>
          </a:p>
          <a:p>
            <a:pPr marL="342900" indent="-342900">
              <a:spcAft>
                <a:spcPts val="800"/>
              </a:spcAft>
              <a:buSzPct val="100000"/>
              <a:buChar char="•"/>
            </a:pPr>
            <a:r>
              <a:rPr lang="en-US" sz="1400" dirty="0">
                <a:solidFill>
                  <a:schemeClr val="tx1"/>
                </a:solidFill>
              </a:rPr>
              <a:t>Gemma writes SQL; a validator allows SELECT only</a:t>
            </a:r>
            <a:endParaRPr lang="en-US" sz="1400" dirty="0"/>
          </a:p>
          <a:p>
            <a:pPr marL="342900" indent="-342900">
              <a:spcAft>
                <a:spcPts val="800"/>
              </a:spcAft>
              <a:buSzPct val="100000"/>
              <a:buChar char="•"/>
            </a:pPr>
            <a:r>
              <a:rPr lang="en-US" sz="1400" dirty="0">
                <a:solidFill>
                  <a:schemeClr val="tx1"/>
                </a:solidFill>
              </a:rPr>
              <a:t>Insert, update and delete are blocked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Three Hard Problems, Three Fixes</a:t>
            </a:r>
            <a:endParaRPr lang="en-US" sz="3200" dirty="0"/>
          </a:p>
        </p:txBody>
      </p:sp>
      <p:sp>
        <p:nvSpPr>
          <p:cNvPr id="3" name="Challenge card 1"/>
          <p:cNvSpPr/>
          <p:nvPr/>
        </p:nvSpPr>
        <p:spPr>
          <a:xfrm>
            <a:off x="457200" y="1280160"/>
            <a:ext cx="2560320" cy="333756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Challenge icon 1 circle"/>
          <p:cNvSpPr/>
          <p:nvPr/>
        </p:nvSpPr>
        <p:spPr>
          <a:xfrm>
            <a:off x="685800" y="1463040"/>
            <a:ext cx="502920" cy="502920"/>
          </a:xfrm>
          <a:prstGeom prst="ellipse">
            <a:avLst/>
          </a:prstGeom>
          <a:solidFill>
            <a:schemeClr val="accent6"/>
          </a:solidFill>
          <a:ln w="12700">
            <a:solidFill>
              <a:schemeClr val="accent6"/>
            </a:solidFill>
            <a:prstDash val="solid"/>
          </a:ln>
        </p:spPr>
      </p:sp>
      <p:pic>
        <p:nvPicPr>
          <p:cNvPr id="5" name="Image 0" descr="Challenge icon 1">    </p:cNvPr>
          <p:cNvPicPr>
            <a:picLocks noChangeAspect="1"/>
          </p:cNvPicPr>
          <p:nvPr/>
        </p:nvPicPr>
        <p:blipFill>
          <a:blip r:embed="rId1"/>
          <a:stretch>
            <a:fillRect/>
          </a:stretch>
        </p:blipFill>
        <p:spPr>
          <a:xfrm>
            <a:off x="811530" y="1588770"/>
            <a:ext cx="251460" cy="251460"/>
          </a:xfrm>
          <a:prstGeom prst="rect">
            <a:avLst/>
          </a:prstGeom>
        </p:spPr>
      </p:pic>
      <p:sp>
        <p:nvSpPr>
          <p:cNvPr id="6" name="Text 3"/>
          <p:cNvSpPr txBox="1"/>
          <p:nvPr/>
        </p:nvSpPr>
        <p:spPr>
          <a:xfrm>
            <a:off x="1325880" y="1463040"/>
            <a:ext cx="160020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Mixed sources</a:t>
            </a:r>
            <a:endParaRPr lang="en-US" sz="1800" dirty="0"/>
          </a:p>
        </p:txBody>
      </p:sp>
      <p:sp>
        <p:nvSpPr>
          <p:cNvPr id="7" name="Text 4"/>
          <p:cNvSpPr txBox="1"/>
          <p:nvPr/>
        </p:nvSpPr>
        <p:spPr>
          <a:xfrm>
            <a:off x="685800" y="2148840"/>
            <a:ext cx="210312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PROBLEM</a:t>
            </a:r>
            <a:endParaRPr lang="en-US" sz="1100" dirty="0"/>
          </a:p>
        </p:txBody>
      </p:sp>
      <p:sp>
        <p:nvSpPr>
          <p:cNvPr id="8" name="Text 5"/>
          <p:cNvSpPr txBox="1"/>
          <p:nvPr/>
        </p:nvSpPr>
        <p:spPr>
          <a:xfrm>
            <a:off x="685800" y="2377440"/>
            <a:ext cx="2148840" cy="777240"/>
          </a:xfrm>
          <a:prstGeom prst="rect">
            <a:avLst/>
          </a:prstGeom>
          <a:noFill/>
          <a:ln/>
        </p:spPr>
        <p:txBody>
          <a:bodyPr wrap="square" lIns="0" tIns="0" rIns="0" bIns="0" rtlCol="0" anchor="t"/>
          <a:lstStyle/>
          <a:p>
            <a:pPr indent="0" marL="0">
              <a:buNone/>
            </a:pPr>
            <a:r>
              <a:rPr lang="en-US" sz="1400" dirty="0">
                <a:solidFill>
                  <a:schemeClr val="tx1"/>
                </a:solidFill>
              </a:rPr>
              <a:t>Badge CSV, device logs and PostgreSQL each store data differently.</a:t>
            </a:r>
            <a:endParaRPr lang="en-US" sz="1400" dirty="0"/>
          </a:p>
        </p:txBody>
      </p:sp>
      <p:sp>
        <p:nvSpPr>
          <p:cNvPr id="9" name="Text 6"/>
          <p:cNvSpPr txBox="1"/>
          <p:nvPr/>
        </p:nvSpPr>
        <p:spPr>
          <a:xfrm>
            <a:off x="685800" y="3200400"/>
            <a:ext cx="210312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FIX</a:t>
            </a:r>
            <a:endParaRPr lang="en-US" sz="1100" dirty="0"/>
          </a:p>
        </p:txBody>
      </p:sp>
      <p:sp>
        <p:nvSpPr>
          <p:cNvPr id="10" name="Text 7"/>
          <p:cNvSpPr txBox="1"/>
          <p:nvPr/>
        </p:nvSpPr>
        <p:spPr>
          <a:xfrm>
            <a:off x="685800" y="3429000"/>
            <a:ext cx="2148840" cy="1143000"/>
          </a:xfrm>
          <a:prstGeom prst="rect">
            <a:avLst/>
          </a:prstGeom>
          <a:noFill/>
          <a:ln/>
        </p:spPr>
        <p:txBody>
          <a:bodyPr wrap="square" lIns="0" tIns="0" rIns="0" bIns="0" rtlCol="0" anchor="t"/>
          <a:lstStyle/>
          <a:p>
            <a:pPr indent="0" marL="0">
              <a:buNone/>
            </a:pPr>
            <a:r>
              <a:rPr lang="en-US" sz="1400" dirty="0">
                <a:solidFill>
                  <a:schemeClr val="tx1"/>
                </a:solidFill>
              </a:rPr>
              <a:t>One transform per source maps everything into a shared schema in a single MySQL timeline table.</a:t>
            </a:r>
            <a:endParaRPr lang="en-US" sz="1400" dirty="0"/>
          </a:p>
        </p:txBody>
      </p:sp>
      <p:sp>
        <p:nvSpPr>
          <p:cNvPr id="11" name="Challenge card 2"/>
          <p:cNvSpPr/>
          <p:nvPr/>
        </p:nvSpPr>
        <p:spPr>
          <a:xfrm>
            <a:off x="3291840" y="1280160"/>
            <a:ext cx="2560320" cy="333756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Challenge icon 2 circle"/>
          <p:cNvSpPr/>
          <p:nvPr/>
        </p:nvSpPr>
        <p:spPr>
          <a:xfrm>
            <a:off x="3520440" y="1463040"/>
            <a:ext cx="502920" cy="502920"/>
          </a:xfrm>
          <a:prstGeom prst="ellipse">
            <a:avLst/>
          </a:prstGeom>
          <a:solidFill>
            <a:schemeClr val="accent6"/>
          </a:solidFill>
          <a:ln w="12700">
            <a:solidFill>
              <a:schemeClr val="accent6"/>
            </a:solidFill>
            <a:prstDash val="solid"/>
          </a:ln>
        </p:spPr>
      </p:sp>
      <p:pic>
        <p:nvPicPr>
          <p:cNvPr id="13" name="Image 1" descr="Challenge icon 2">    </p:cNvPr>
          <p:cNvPicPr>
            <a:picLocks noChangeAspect="1"/>
          </p:cNvPicPr>
          <p:nvPr/>
        </p:nvPicPr>
        <p:blipFill>
          <a:blip r:embed="rId2"/>
          <a:stretch>
            <a:fillRect/>
          </a:stretch>
        </p:blipFill>
        <p:spPr>
          <a:xfrm>
            <a:off x="3646170" y="1588770"/>
            <a:ext cx="251460" cy="251460"/>
          </a:xfrm>
          <a:prstGeom prst="rect">
            <a:avLst/>
          </a:prstGeom>
        </p:spPr>
      </p:pic>
      <p:sp>
        <p:nvSpPr>
          <p:cNvPr id="14" name="Text 10"/>
          <p:cNvSpPr txBox="1"/>
          <p:nvPr/>
        </p:nvSpPr>
        <p:spPr>
          <a:xfrm>
            <a:off x="4160520" y="1463040"/>
            <a:ext cx="160020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Proven integrity</a:t>
            </a:r>
            <a:endParaRPr lang="en-US" sz="1800" dirty="0"/>
          </a:p>
        </p:txBody>
      </p:sp>
      <p:sp>
        <p:nvSpPr>
          <p:cNvPr id="15" name="Text 11"/>
          <p:cNvSpPr txBox="1"/>
          <p:nvPr/>
        </p:nvSpPr>
        <p:spPr>
          <a:xfrm>
            <a:off x="3520440" y="2148840"/>
            <a:ext cx="210312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PROBLEM</a:t>
            </a:r>
            <a:endParaRPr lang="en-US" sz="1100" dirty="0"/>
          </a:p>
        </p:txBody>
      </p:sp>
      <p:sp>
        <p:nvSpPr>
          <p:cNvPr id="16" name="Text 12"/>
          <p:cNvSpPr txBox="1"/>
          <p:nvPr/>
        </p:nvSpPr>
        <p:spPr>
          <a:xfrm>
            <a:off x="3520440" y="2377440"/>
            <a:ext cx="2148840" cy="777240"/>
          </a:xfrm>
          <a:prstGeom prst="rect">
            <a:avLst/>
          </a:prstGeom>
          <a:noFill/>
          <a:ln/>
        </p:spPr>
        <p:txBody>
          <a:bodyPr wrap="square" lIns="0" tIns="0" rIns="0" bIns="0" rtlCol="0" anchor="t"/>
          <a:lstStyle/>
          <a:p>
            <a:pPr indent="0" marL="0">
              <a:buNone/>
            </a:pPr>
            <a:r>
              <a:rPr lang="en-US" sz="1400" dirty="0">
                <a:solidFill>
                  <a:schemeClr val="tx1"/>
                </a:solidFill>
              </a:rPr>
              <a:t>If evidence were modified, it would be hard to prove the data is trustworthy.</a:t>
            </a:r>
            <a:endParaRPr lang="en-US" sz="1400" dirty="0"/>
          </a:p>
        </p:txBody>
      </p:sp>
      <p:sp>
        <p:nvSpPr>
          <p:cNvPr id="17" name="Text 13"/>
          <p:cNvSpPr txBox="1"/>
          <p:nvPr/>
        </p:nvSpPr>
        <p:spPr>
          <a:xfrm>
            <a:off x="3520440" y="3200400"/>
            <a:ext cx="210312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FIX</a:t>
            </a:r>
            <a:endParaRPr lang="en-US" sz="1100" dirty="0"/>
          </a:p>
        </p:txBody>
      </p:sp>
      <p:sp>
        <p:nvSpPr>
          <p:cNvPr id="18" name="Text 14"/>
          <p:cNvSpPr txBox="1"/>
          <p:nvPr/>
        </p:nvSpPr>
        <p:spPr>
          <a:xfrm>
            <a:off x="3520440" y="3429000"/>
            <a:ext cx="2148840" cy="1143000"/>
          </a:xfrm>
          <a:prstGeom prst="rect">
            <a:avLst/>
          </a:prstGeom>
          <a:noFill/>
          <a:ln/>
        </p:spPr>
        <p:txBody>
          <a:bodyPr wrap="square" lIns="0" tIns="0" rIns="0" bIns="0" rtlCol="0" anchor="t"/>
          <a:lstStyle/>
          <a:p>
            <a:pPr indent="0" marL="0">
              <a:buNone/>
            </a:pPr>
            <a:r>
              <a:rPr lang="en-US" sz="1400" dirty="0">
                <a:solidFill>
                  <a:schemeClr val="tx1"/>
                </a:solidFill>
              </a:rPr>
              <a:t>Hash the original, hash a timestamped copy, compare. Only verified copies are processed; results go to a chain-of-custody manifest.</a:t>
            </a:r>
            <a:endParaRPr lang="en-US" sz="1400" dirty="0"/>
          </a:p>
        </p:txBody>
      </p:sp>
      <p:sp>
        <p:nvSpPr>
          <p:cNvPr id="19" name="Challenge card 3"/>
          <p:cNvSpPr/>
          <p:nvPr/>
        </p:nvSpPr>
        <p:spPr>
          <a:xfrm>
            <a:off x="6126480" y="1280160"/>
            <a:ext cx="2560320" cy="3337560"/>
          </a:xfrm>
          <a:prstGeom prst="roundRect">
            <a:avLst>
              <a:gd name="adj" fmla="val 285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Challenge icon 3 circle"/>
          <p:cNvSpPr/>
          <p:nvPr/>
        </p:nvSpPr>
        <p:spPr>
          <a:xfrm>
            <a:off x="6355080" y="1463040"/>
            <a:ext cx="502920" cy="502920"/>
          </a:xfrm>
          <a:prstGeom prst="ellipse">
            <a:avLst/>
          </a:prstGeom>
          <a:solidFill>
            <a:schemeClr val="accent6"/>
          </a:solidFill>
          <a:ln w="12700">
            <a:solidFill>
              <a:schemeClr val="accent6"/>
            </a:solidFill>
            <a:prstDash val="solid"/>
          </a:ln>
        </p:spPr>
      </p:sp>
      <p:pic>
        <p:nvPicPr>
          <p:cNvPr id="21" name="Image 2" descr="Challenge icon 3">    </p:cNvPr>
          <p:cNvPicPr>
            <a:picLocks noChangeAspect="1"/>
          </p:cNvPicPr>
          <p:nvPr/>
        </p:nvPicPr>
        <p:blipFill>
          <a:blip r:embed="rId3"/>
          <a:stretch>
            <a:fillRect/>
          </a:stretch>
        </p:blipFill>
        <p:spPr>
          <a:xfrm>
            <a:off x="6480810" y="1588770"/>
            <a:ext cx="251460" cy="251460"/>
          </a:xfrm>
          <a:prstGeom prst="rect">
            <a:avLst/>
          </a:prstGeom>
        </p:spPr>
      </p:pic>
      <p:sp>
        <p:nvSpPr>
          <p:cNvPr id="22" name="Text 17"/>
          <p:cNvSpPr txBox="1"/>
          <p:nvPr/>
        </p:nvSpPr>
        <p:spPr>
          <a:xfrm>
            <a:off x="6995160" y="1463040"/>
            <a:ext cx="160020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 duplicates</a:t>
            </a:r>
            <a:endParaRPr lang="en-US" sz="1800" dirty="0"/>
          </a:p>
        </p:txBody>
      </p:sp>
      <p:sp>
        <p:nvSpPr>
          <p:cNvPr id="23" name="Text 18"/>
          <p:cNvSpPr txBox="1"/>
          <p:nvPr/>
        </p:nvSpPr>
        <p:spPr>
          <a:xfrm>
            <a:off x="6355080" y="2148840"/>
            <a:ext cx="210312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PROBLEM</a:t>
            </a:r>
            <a:endParaRPr lang="en-US" sz="1100" dirty="0"/>
          </a:p>
        </p:txBody>
      </p:sp>
      <p:sp>
        <p:nvSpPr>
          <p:cNvPr id="24" name="Text 19"/>
          <p:cNvSpPr txBox="1"/>
          <p:nvPr/>
        </p:nvSpPr>
        <p:spPr>
          <a:xfrm>
            <a:off x="6355080" y="2377440"/>
            <a:ext cx="2148840" cy="777240"/>
          </a:xfrm>
          <a:prstGeom prst="rect">
            <a:avLst/>
          </a:prstGeom>
          <a:noFill/>
          <a:ln/>
        </p:spPr>
        <p:txBody>
          <a:bodyPr wrap="square" lIns="0" tIns="0" rIns="0" bIns="0" rtlCol="0" anchor="t"/>
          <a:lstStyle/>
          <a:p>
            <a:pPr indent="0" marL="0">
              <a:buNone/>
            </a:pPr>
            <a:r>
              <a:rPr lang="en-US" sz="1400" dirty="0">
                <a:solidFill>
                  <a:schemeClr val="tx1"/>
                </a:solidFill>
              </a:rPr>
              <a:t>Re-runs and repeated polling could log one action twice.</a:t>
            </a:r>
            <a:endParaRPr lang="en-US" sz="1400" dirty="0"/>
          </a:p>
        </p:txBody>
      </p:sp>
      <p:sp>
        <p:nvSpPr>
          <p:cNvPr id="25" name="Text 20"/>
          <p:cNvSpPr txBox="1"/>
          <p:nvPr/>
        </p:nvSpPr>
        <p:spPr>
          <a:xfrm>
            <a:off x="6355080" y="3200400"/>
            <a:ext cx="2103120" cy="228600"/>
          </a:xfrm>
          <a:prstGeom prst="rect">
            <a:avLst/>
          </a:prstGeom>
          <a:noFill/>
          <a:ln/>
        </p:spPr>
        <p:txBody>
          <a:bodyPr wrap="square" lIns="0" tIns="0" rIns="0" bIns="0" rtlCol="0" anchor="t"/>
          <a:lstStyle/>
          <a:p>
            <a:pPr indent="0" marL="0">
              <a:buNone/>
            </a:pPr>
            <a:r>
              <a:rPr lang="en-US" sz="1100" b="1" spc="200" kern="0" dirty="0">
                <a:solidFill>
                  <a:schemeClr val="accent2"/>
                </a:solidFill>
              </a:rPr>
              <a:t>FIX</a:t>
            </a:r>
            <a:endParaRPr lang="en-US" sz="1100" dirty="0"/>
          </a:p>
        </p:txBody>
      </p:sp>
      <p:sp>
        <p:nvSpPr>
          <p:cNvPr id="26" name="Text 21"/>
          <p:cNvSpPr txBox="1"/>
          <p:nvPr/>
        </p:nvSpPr>
        <p:spPr>
          <a:xfrm>
            <a:off x="6355080" y="3429000"/>
            <a:ext cx="2148840" cy="1143000"/>
          </a:xfrm>
          <a:prstGeom prst="rect">
            <a:avLst/>
          </a:prstGeom>
          <a:noFill/>
          <a:ln/>
        </p:spPr>
        <p:txBody>
          <a:bodyPr wrap="square" lIns="0" tIns="0" rIns="0" bIns="0" rtlCol="0" anchor="t"/>
          <a:lstStyle/>
          <a:p>
            <a:pPr indent="0" marL="0">
              <a:buNone/>
            </a:pPr>
            <a:r>
              <a:rPr lang="en-US" sz="1400" dirty="0">
                <a:solidFill>
                  <a:schemeClr val="tx1"/>
                </a:solidFill>
              </a:rPr>
              <a:t>Each event gets a unique ID, and the database skips repeats. We also track the last record processed.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Trade-offs and Risks</a:t>
            </a:r>
            <a:endParaRPr lang="en-US" sz="3200" dirty="0"/>
          </a:p>
        </p:txBody>
      </p:sp>
      <p:sp>
        <p:nvSpPr>
          <p:cNvPr id="3" name="Risk row 1"/>
          <p:cNvSpPr/>
          <p:nvPr/>
        </p:nvSpPr>
        <p:spPr>
          <a:xfrm>
            <a:off x="457200" y="1325880"/>
            <a:ext cx="822960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Risk icon 1 circle"/>
          <p:cNvSpPr/>
          <p:nvPr/>
        </p:nvSpPr>
        <p:spPr>
          <a:xfrm>
            <a:off x="685800" y="1554480"/>
            <a:ext cx="502920" cy="502920"/>
          </a:xfrm>
          <a:prstGeom prst="ellipse">
            <a:avLst/>
          </a:prstGeom>
          <a:solidFill>
            <a:schemeClr val="accent3"/>
          </a:solidFill>
          <a:ln w="12700">
            <a:solidFill>
              <a:schemeClr val="accent3"/>
            </a:solidFill>
            <a:prstDash val="solid"/>
          </a:ln>
        </p:spPr>
      </p:sp>
      <p:pic>
        <p:nvPicPr>
          <p:cNvPr id="5" name="Image 0" descr="Risk icon 1">    </p:cNvPr>
          <p:cNvPicPr>
            <a:picLocks noChangeAspect="1"/>
          </p:cNvPicPr>
          <p:nvPr/>
        </p:nvPicPr>
        <p:blipFill>
          <a:blip r:embed="rId1"/>
          <a:stretch>
            <a:fillRect/>
          </a:stretch>
        </p:blipFill>
        <p:spPr>
          <a:xfrm>
            <a:off x="811530" y="1680210"/>
            <a:ext cx="251460" cy="251460"/>
          </a:xfrm>
          <a:prstGeom prst="rect">
            <a:avLst/>
          </a:prstGeom>
        </p:spPr>
      </p:pic>
      <p:sp>
        <p:nvSpPr>
          <p:cNvPr id="6" name="Text 3"/>
          <p:cNvSpPr txBox="1"/>
          <p:nvPr/>
        </p:nvSpPr>
        <p:spPr>
          <a:xfrm>
            <a:off x="1371600" y="1325880"/>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Not truly real-time</a:t>
            </a:r>
            <a:endParaRPr lang="en-US" sz="1800" dirty="0"/>
          </a:p>
        </p:txBody>
      </p:sp>
      <p:sp>
        <p:nvSpPr>
          <p:cNvPr id="7" name="Text 4"/>
          <p:cNvSpPr txBox="1"/>
          <p:nvPr/>
        </p:nvSpPr>
        <p:spPr>
          <a:xfrm>
            <a:off x="4480560" y="1325880"/>
            <a:ext cx="4023360" cy="96012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chemeClr val="tx1"/>
                </a:solidFill>
              </a:rPr>
              <a:t>Data is processed by polling PostgreSQL every 30-60 seconds</a:t>
            </a:r>
            <a:endParaRPr lang="en-US" sz="1400" dirty="0"/>
          </a:p>
          <a:p>
            <a:pPr marL="342900" indent="-342900">
              <a:spcAft>
                <a:spcPts val="400"/>
              </a:spcAft>
              <a:buSzPct val="100000"/>
              <a:buChar char="•"/>
            </a:pPr>
            <a:r>
              <a:rPr lang="en-US" sz="1400" dirty="0">
                <a:solidFill>
                  <a:schemeClr val="tx1"/>
                </a:solidFill>
              </a:rPr>
              <a:t>Could result in missed or tampered data</a:t>
            </a:r>
            <a:endParaRPr lang="en-US" sz="1400" dirty="0"/>
          </a:p>
        </p:txBody>
      </p:sp>
      <p:sp>
        <p:nvSpPr>
          <p:cNvPr id="8" name="Risk row 2"/>
          <p:cNvSpPr/>
          <p:nvPr/>
        </p:nvSpPr>
        <p:spPr>
          <a:xfrm>
            <a:off x="457200" y="2423160"/>
            <a:ext cx="822960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Risk icon 2 circle"/>
          <p:cNvSpPr/>
          <p:nvPr/>
        </p:nvSpPr>
        <p:spPr>
          <a:xfrm>
            <a:off x="685800" y="2651760"/>
            <a:ext cx="502920" cy="502920"/>
          </a:xfrm>
          <a:prstGeom prst="ellipse">
            <a:avLst/>
          </a:prstGeom>
          <a:solidFill>
            <a:schemeClr val="accent3"/>
          </a:solidFill>
          <a:ln w="12700">
            <a:solidFill>
              <a:schemeClr val="accent3"/>
            </a:solidFill>
            <a:prstDash val="solid"/>
          </a:ln>
        </p:spPr>
      </p:sp>
      <p:pic>
        <p:nvPicPr>
          <p:cNvPr id="10" name="Image 1" descr="Risk icon 2">    </p:cNvPr>
          <p:cNvPicPr>
            <a:picLocks noChangeAspect="1"/>
          </p:cNvPicPr>
          <p:nvPr/>
        </p:nvPicPr>
        <p:blipFill>
          <a:blip r:embed="rId2"/>
          <a:stretch>
            <a:fillRect/>
          </a:stretch>
        </p:blipFill>
        <p:spPr>
          <a:xfrm>
            <a:off x="811530" y="2777490"/>
            <a:ext cx="251460" cy="251460"/>
          </a:xfrm>
          <a:prstGeom prst="rect">
            <a:avLst/>
          </a:prstGeom>
        </p:spPr>
      </p:pic>
      <p:sp>
        <p:nvSpPr>
          <p:cNvPr id="11" name="Text 7"/>
          <p:cNvSpPr txBox="1"/>
          <p:nvPr/>
        </p:nvSpPr>
        <p:spPr>
          <a:xfrm>
            <a:off x="1371600" y="2423160"/>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Gemma can be error-prone</a:t>
            </a:r>
            <a:endParaRPr lang="en-US" sz="1800" dirty="0"/>
          </a:p>
        </p:txBody>
      </p:sp>
      <p:sp>
        <p:nvSpPr>
          <p:cNvPr id="12" name="Text 8"/>
          <p:cNvSpPr txBox="1"/>
          <p:nvPr/>
        </p:nvSpPr>
        <p:spPr>
          <a:xfrm>
            <a:off x="4480560" y="2423160"/>
            <a:ext cx="4023360" cy="96012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chemeClr val="tx1"/>
                </a:solidFill>
              </a:rPr>
              <a:t>May generate incorrect SQL</a:t>
            </a:r>
            <a:endParaRPr lang="en-US" sz="1400" dirty="0"/>
          </a:p>
          <a:p>
            <a:pPr marL="342900" indent="-342900">
              <a:spcAft>
                <a:spcPts val="400"/>
              </a:spcAft>
              <a:buSzPct val="100000"/>
              <a:buChar char="•"/>
            </a:pPr>
            <a:r>
              <a:rPr lang="en-US" sz="1400" dirty="0">
                <a:solidFill>
                  <a:schemeClr val="tx1"/>
                </a:solidFill>
              </a:rPr>
              <a:t>Could misinterpret an investigator's request</a:t>
            </a:r>
            <a:endParaRPr lang="en-US" sz="1400" dirty="0"/>
          </a:p>
        </p:txBody>
      </p:sp>
      <p:sp>
        <p:nvSpPr>
          <p:cNvPr id="13" name="Risk row 3"/>
          <p:cNvSpPr/>
          <p:nvPr/>
        </p:nvSpPr>
        <p:spPr>
          <a:xfrm>
            <a:off x="457200" y="3520440"/>
            <a:ext cx="8229600" cy="960120"/>
          </a:xfrm>
          <a:prstGeom prst="roundRect">
            <a:avLst>
              <a:gd name="adj" fmla="val 76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Risk icon 3 circle"/>
          <p:cNvSpPr/>
          <p:nvPr/>
        </p:nvSpPr>
        <p:spPr>
          <a:xfrm>
            <a:off x="685800" y="3749040"/>
            <a:ext cx="502920" cy="502920"/>
          </a:xfrm>
          <a:prstGeom prst="ellipse">
            <a:avLst/>
          </a:prstGeom>
          <a:solidFill>
            <a:schemeClr val="accent3"/>
          </a:solidFill>
          <a:ln w="12700">
            <a:solidFill>
              <a:schemeClr val="accent3"/>
            </a:solidFill>
            <a:prstDash val="solid"/>
          </a:ln>
        </p:spPr>
      </p:sp>
      <p:pic>
        <p:nvPicPr>
          <p:cNvPr id="15" name="Image 2" descr="Risk icon 3">    </p:cNvPr>
          <p:cNvPicPr>
            <a:picLocks noChangeAspect="1"/>
          </p:cNvPicPr>
          <p:nvPr/>
        </p:nvPicPr>
        <p:blipFill>
          <a:blip r:embed="rId3"/>
          <a:stretch>
            <a:fillRect/>
          </a:stretch>
        </p:blipFill>
        <p:spPr>
          <a:xfrm>
            <a:off x="811530" y="3874770"/>
            <a:ext cx="251460" cy="251460"/>
          </a:xfrm>
          <a:prstGeom prst="rect">
            <a:avLst/>
          </a:prstGeom>
        </p:spPr>
      </p:pic>
      <p:sp>
        <p:nvSpPr>
          <p:cNvPr id="16" name="Text 11"/>
          <p:cNvSpPr txBox="1"/>
          <p:nvPr/>
        </p:nvSpPr>
        <p:spPr>
          <a:xfrm>
            <a:off x="1371600" y="3520440"/>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Hashing is not full authenticity</a:t>
            </a:r>
            <a:endParaRPr lang="en-US" sz="1800" dirty="0"/>
          </a:p>
        </p:txBody>
      </p:sp>
      <p:sp>
        <p:nvSpPr>
          <p:cNvPr id="17" name="Text 12"/>
          <p:cNvSpPr txBox="1"/>
          <p:nvPr/>
        </p:nvSpPr>
        <p:spPr>
          <a:xfrm>
            <a:off x="4480560" y="3520440"/>
            <a:ext cx="4023360" cy="96012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chemeClr val="tx1"/>
                </a:solidFill>
              </a:rPr>
              <a:t>We can verify the data wasn't modified</a:t>
            </a:r>
            <a:endParaRPr lang="en-US" sz="1400" dirty="0"/>
          </a:p>
          <a:p>
            <a:pPr marL="342900" indent="-342900">
              <a:spcAft>
                <a:spcPts val="400"/>
              </a:spcAft>
              <a:buSzPct val="100000"/>
              <a:buChar char="•"/>
            </a:pPr>
            <a:r>
              <a:rPr lang="en-US" sz="1400" dirty="0">
                <a:solidFill>
                  <a:schemeClr val="tx1"/>
                </a:solidFill>
              </a:rPr>
              <a:t>We cannot verify the original data came from the correct source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914400"/>
          </a:xfrm>
          <a:prstGeom prst="rect">
            <a:avLst/>
          </a:prstGeom>
          <a:noFill/>
          <a:ln/>
        </p:spPr>
        <p:txBody>
          <a:bodyPr wrap="square" lIns="0" tIns="0" rIns="0" bIns="0" rtlCol="0" anchor="t"/>
          <a:lstStyle/>
          <a:p>
            <a:pPr algn="l" indent="0" marL="0">
              <a:buNone/>
            </a:pPr>
            <a:r>
              <a:rPr lang="en-US" sz="3600" b="1" dirty="0">
                <a:solidFill>
                  <a:schemeClr val="bg1"/>
                </a:solidFill>
              </a:rPr>
              <a:t>From Scattered Data to Answers</a:t>
            </a:r>
            <a:endParaRPr lang="en-US" sz="3600" dirty="0"/>
          </a:p>
        </p:txBody>
      </p:sp>
      <p:sp>
        <p:nvSpPr>
          <p:cNvPr id="3" name="Value card 1"/>
          <p:cNvSpPr/>
          <p:nvPr/>
        </p:nvSpPr>
        <p:spPr>
          <a:xfrm>
            <a:off x="548640" y="1554480"/>
            <a:ext cx="2560320" cy="2011680"/>
          </a:xfrm>
          <a:prstGeom prst="roundRect">
            <a:avLst>
              <a:gd name="adj" fmla="val 3636"/>
            </a:avLst>
          </a:prstGeom>
          <a:solidFill>
            <a:schemeClr val="tx2"/>
          </a:solidFill>
          <a:ln w="12700">
            <a:solidFill>
              <a:schemeClr val="tx2"/>
            </a:solidFill>
            <a:prstDash val="solid"/>
          </a:ln>
        </p:spPr>
      </p:sp>
      <p:sp>
        <p:nvSpPr>
          <p:cNvPr id="4" name="Value icon 1 circle"/>
          <p:cNvSpPr/>
          <p:nvPr/>
        </p:nvSpPr>
        <p:spPr>
          <a:xfrm>
            <a:off x="777240" y="1783080"/>
            <a:ext cx="548640" cy="548640"/>
          </a:xfrm>
          <a:prstGeom prst="ellipse">
            <a:avLst/>
          </a:prstGeom>
          <a:solidFill>
            <a:schemeClr val="accent1"/>
          </a:solidFill>
          <a:ln w="12700">
            <a:solidFill>
              <a:schemeClr val="accent1"/>
            </a:solidFill>
            <a:prstDash val="solid"/>
          </a:ln>
        </p:spPr>
      </p:sp>
      <p:pic>
        <p:nvPicPr>
          <p:cNvPr id="5" name="Image 0" descr="Value icon 1">    </p:cNvPr>
          <p:cNvPicPr>
            <a:picLocks noChangeAspect="1"/>
          </p:cNvPicPr>
          <p:nvPr/>
        </p:nvPicPr>
        <p:blipFill>
          <a:blip r:embed="rId1"/>
          <a:stretch>
            <a:fillRect/>
          </a:stretch>
        </p:blipFill>
        <p:spPr>
          <a:xfrm>
            <a:off x="914400" y="1920240"/>
            <a:ext cx="274320" cy="274320"/>
          </a:xfrm>
          <a:prstGeom prst="rect">
            <a:avLst/>
          </a:prstGeom>
        </p:spPr>
      </p:pic>
      <p:sp>
        <p:nvSpPr>
          <p:cNvPr id="6" name="Text 3"/>
          <p:cNvSpPr txBox="1"/>
          <p:nvPr/>
        </p:nvSpPr>
        <p:spPr>
          <a:xfrm>
            <a:off x="1463040" y="1783080"/>
            <a:ext cx="1554480" cy="5486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Trustworthy</a:t>
            </a:r>
            <a:endParaRPr lang="en-US" sz="2000" dirty="0"/>
          </a:p>
        </p:txBody>
      </p:sp>
      <p:sp>
        <p:nvSpPr>
          <p:cNvPr id="7" name="Text 4"/>
          <p:cNvSpPr txBox="1"/>
          <p:nvPr/>
        </p:nvSpPr>
        <p:spPr>
          <a:xfrm>
            <a:off x="777240" y="2560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Preserves original evidence and verifies integrity with hashing</a:t>
            </a:r>
            <a:endParaRPr lang="en-US" sz="1400" dirty="0"/>
          </a:p>
        </p:txBody>
      </p:sp>
      <p:sp>
        <p:nvSpPr>
          <p:cNvPr id="8" name="Value card 2"/>
          <p:cNvSpPr/>
          <p:nvPr/>
        </p:nvSpPr>
        <p:spPr>
          <a:xfrm>
            <a:off x="3337560" y="1554480"/>
            <a:ext cx="2560320" cy="2011680"/>
          </a:xfrm>
          <a:prstGeom prst="roundRect">
            <a:avLst>
              <a:gd name="adj" fmla="val 3636"/>
            </a:avLst>
          </a:prstGeom>
          <a:solidFill>
            <a:schemeClr val="tx2"/>
          </a:solidFill>
          <a:ln w="12700">
            <a:solidFill>
              <a:schemeClr val="tx2"/>
            </a:solidFill>
            <a:prstDash val="solid"/>
          </a:ln>
        </p:spPr>
      </p:sp>
      <p:sp>
        <p:nvSpPr>
          <p:cNvPr id="9" name="Value icon 2 circle"/>
          <p:cNvSpPr/>
          <p:nvPr/>
        </p:nvSpPr>
        <p:spPr>
          <a:xfrm>
            <a:off x="3566160" y="1783080"/>
            <a:ext cx="548640" cy="548640"/>
          </a:xfrm>
          <a:prstGeom prst="ellipse">
            <a:avLst/>
          </a:prstGeom>
          <a:solidFill>
            <a:schemeClr val="accent1"/>
          </a:solidFill>
          <a:ln w="12700">
            <a:solidFill>
              <a:schemeClr val="accent1"/>
            </a:solidFill>
            <a:prstDash val="solid"/>
          </a:ln>
        </p:spPr>
      </p:sp>
      <p:pic>
        <p:nvPicPr>
          <p:cNvPr id="10" name="Image 1" descr="Value icon 2">    </p:cNvPr>
          <p:cNvPicPr>
            <a:picLocks noChangeAspect="1"/>
          </p:cNvPicPr>
          <p:nvPr/>
        </p:nvPicPr>
        <p:blipFill>
          <a:blip r:embed="rId2"/>
          <a:stretch>
            <a:fillRect/>
          </a:stretch>
        </p:blipFill>
        <p:spPr>
          <a:xfrm>
            <a:off x="3703320" y="1920240"/>
            <a:ext cx="274320" cy="274320"/>
          </a:xfrm>
          <a:prstGeom prst="rect">
            <a:avLst/>
          </a:prstGeom>
        </p:spPr>
      </p:pic>
      <p:sp>
        <p:nvSpPr>
          <p:cNvPr id="11" name="Text 7"/>
          <p:cNvSpPr txBox="1"/>
          <p:nvPr/>
        </p:nvSpPr>
        <p:spPr>
          <a:xfrm>
            <a:off x="4251960" y="1783080"/>
            <a:ext cx="1554480" cy="5486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Efficient</a:t>
            </a:r>
            <a:endParaRPr lang="en-US" sz="2000" dirty="0"/>
          </a:p>
        </p:txBody>
      </p:sp>
      <p:sp>
        <p:nvSpPr>
          <p:cNvPr id="12" name="Text 8"/>
          <p:cNvSpPr txBox="1"/>
          <p:nvPr/>
        </p:nvSpPr>
        <p:spPr>
          <a:xfrm>
            <a:off x="3566160" y="2560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Automates data normalization and querying</a:t>
            </a:r>
            <a:endParaRPr lang="en-US" sz="1400" dirty="0"/>
          </a:p>
        </p:txBody>
      </p:sp>
      <p:sp>
        <p:nvSpPr>
          <p:cNvPr id="13" name="Value card 3"/>
          <p:cNvSpPr/>
          <p:nvPr/>
        </p:nvSpPr>
        <p:spPr>
          <a:xfrm>
            <a:off x="6126480" y="1554480"/>
            <a:ext cx="2560320" cy="2011680"/>
          </a:xfrm>
          <a:prstGeom prst="roundRect">
            <a:avLst>
              <a:gd name="adj" fmla="val 3636"/>
            </a:avLst>
          </a:prstGeom>
          <a:solidFill>
            <a:schemeClr val="tx2"/>
          </a:solidFill>
          <a:ln w="12700">
            <a:solidFill>
              <a:schemeClr val="tx2"/>
            </a:solidFill>
            <a:prstDash val="solid"/>
          </a:ln>
        </p:spPr>
      </p:sp>
      <p:sp>
        <p:nvSpPr>
          <p:cNvPr id="14" name="Value icon 3 circle"/>
          <p:cNvSpPr/>
          <p:nvPr/>
        </p:nvSpPr>
        <p:spPr>
          <a:xfrm>
            <a:off x="6355080" y="1783080"/>
            <a:ext cx="548640" cy="548640"/>
          </a:xfrm>
          <a:prstGeom prst="ellipse">
            <a:avLst/>
          </a:prstGeom>
          <a:solidFill>
            <a:schemeClr val="accent1"/>
          </a:solidFill>
          <a:ln w="12700">
            <a:solidFill>
              <a:schemeClr val="accent1"/>
            </a:solidFill>
            <a:prstDash val="solid"/>
          </a:ln>
        </p:spPr>
      </p:sp>
      <p:pic>
        <p:nvPicPr>
          <p:cNvPr id="15" name="Image 2" descr="Value icon 3">    </p:cNvPr>
          <p:cNvPicPr>
            <a:picLocks noChangeAspect="1"/>
          </p:cNvPicPr>
          <p:nvPr/>
        </p:nvPicPr>
        <p:blipFill>
          <a:blip r:embed="rId3"/>
          <a:stretch>
            <a:fillRect/>
          </a:stretch>
        </p:blipFill>
        <p:spPr>
          <a:xfrm>
            <a:off x="6492240" y="1920240"/>
            <a:ext cx="274320" cy="274320"/>
          </a:xfrm>
          <a:prstGeom prst="rect">
            <a:avLst/>
          </a:prstGeom>
        </p:spPr>
      </p:pic>
      <p:sp>
        <p:nvSpPr>
          <p:cNvPr id="16" name="Text 11"/>
          <p:cNvSpPr txBox="1"/>
          <p:nvPr/>
        </p:nvSpPr>
        <p:spPr>
          <a:xfrm>
            <a:off x="7040880" y="1783080"/>
            <a:ext cx="1554480" cy="5486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Scalable</a:t>
            </a:r>
            <a:endParaRPr lang="en-US" sz="2000" dirty="0"/>
          </a:p>
        </p:txBody>
      </p:sp>
      <p:sp>
        <p:nvSpPr>
          <p:cNvPr id="17" name="Text 12"/>
          <p:cNvSpPr txBox="1"/>
          <p:nvPr/>
        </p:nvSpPr>
        <p:spPr>
          <a:xfrm>
            <a:off x="6355080" y="2560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Supports additional data sources and high volumes over time</a:t>
            </a:r>
            <a:endParaRPr lang="en-US" sz="1400" dirty="0"/>
          </a:p>
        </p:txBody>
      </p:sp>
      <p:sp>
        <p:nvSpPr>
          <p:cNvPr id="18" name="Text 13"/>
          <p:cNvSpPr txBox="1"/>
          <p:nvPr/>
        </p:nvSpPr>
        <p:spPr>
          <a:xfrm>
            <a:off x="548640" y="3931920"/>
            <a:ext cx="8046720" cy="548640"/>
          </a:xfrm>
          <a:prstGeom prst="rect">
            <a:avLst/>
          </a:prstGeom>
          <a:noFill/>
          <a:ln/>
        </p:spPr>
        <p:txBody>
          <a:bodyPr wrap="square" lIns="0" tIns="0" rIns="0" bIns="0" rtlCol="0" anchor="t"/>
          <a:lstStyle/>
          <a:p>
            <a:pPr indent="0" marL="0">
              <a:buNone/>
            </a:pPr>
            <a:r>
              <a:rPr lang="en-US" sz="2000" b="1" dirty="0">
                <a:solidFill>
                  <a:schemeClr val="accent1"/>
                </a:solidFill>
              </a:rPr>
              <a:t>Investigators no longer reconcile data by hand and can spend more time verifying alibis.</a:t>
            </a:r>
            <a:endParaRPr lang="en-US" sz="2000" dirty="0"/>
          </a:p>
        </p:txBody>
      </p:sp>
    </p:spTree>
  </p:cSld>
  <p:clrMapOvr>
    <a:masterClrMapping/>
  </p:clrMapOvr>
</p:sld>
</file>

<file path=ppt/theme/theme1.xml><?xml version="1.0" encoding="utf-8"?>
<a:theme xmlns:a="http://schemas.openxmlformats.org/drawingml/2006/main" name="Case File">
  <a:themeElements>
    <a:clrScheme name="Case File">
      <a:dk1>
        <a:srgbClr val="1B2430"/>
      </a:dk1>
      <a:lt1>
        <a:srgbClr val="FFFFFF"/>
      </a:lt1>
      <a:dk2>
        <a:srgbClr val="2E3A4A"/>
      </a:dk2>
      <a:lt2>
        <a:srgbClr val="EEF1F5"/>
      </a:lt2>
      <a:accent1>
        <a:srgbClr val="F2A900"/>
      </a:accent1>
      <a:accent2>
        <a:srgbClr val="2A9D8F"/>
      </a:accent2>
      <a:accent3>
        <a:srgbClr val="D1495B"/>
      </a:accent3>
      <a:accent4>
        <a:srgbClr val="5C6B7F"/>
      </a:accent4>
      <a:accent5>
        <a:srgbClr val="8FA3B8"/>
      </a:accent5>
      <a:accent6>
        <a:srgbClr val="3D5A80"/>
      </a:accent6>
      <a:hlink>
        <a:srgbClr val="2A9D8F"/>
      </a:hlink>
      <a:folHlink>
        <a:srgbClr val="5C6B7F"/>
      </a:folHlink>
    </a:clrScheme>
    <a:fontScheme name="Case Fi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Closed: The Broken Alibi</dc:title>
  <dc:subject>PptxGenJS Presentation</dc:subject>
  <dc:creator>PptxGenJS</dc:creator>
  <cp:lastModifiedBy>PptxGenJS</cp:lastModifiedBy>
  <cp:revision>1</cp:revision>
  <dcterms:created xsi:type="dcterms:W3CDTF">2026-10-04T19:32:49Z</dcterms:created>
  <dcterms:modified xsi:type="dcterms:W3CDTF">2026-10-04T19:32:49Z</dcterms:modified>
</cp:coreProperties>
</file>